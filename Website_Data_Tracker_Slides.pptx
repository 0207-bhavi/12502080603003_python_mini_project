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d9d7ac1-4baf-5cca-b24d-e802e57c9cfe}">
          <p14:sldIdLst>
            <p14:sldId id="256"/>
          </p14:sldIdLst>
        </p14:section>
        <p14:section name="Overview" id="{caccce5b-885c-73a5-8eb3-dbd873796cbb}">
          <p14:sldIdLst>
            <p14:sldId id="257"/>
            <p14:sldId id="258"/>
          </p14:sldIdLst>
        </p14:section>
        <p14:section name="Design &amp; Testing" id="{573ff481-17bb-8ecb-3471-7b47a5f11c43}">
          <p14:sldIdLst>
            <p14:sldId id="259"/>
            <p14:sldId id="260"/>
          </p14:sldIdLst>
        </p14:section>
        <p14:section name="Wrap-up" id="{6927df14-f87a-8713-e2b5-abe9ddce4f35}">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Website Data Tracker, a Python desktop app for organizing website records. Submitted by Modh Bhavi (12502080603003) under the guidance of Mr. Nayan Mali, Department of Information Technology, A D Patel Institute of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collect website links for education, research, shopping and entertainment, but the links get scattered. The tracker gives one local place to store each site with a name, URL, category and notes. Scope: the first version is local and manual; it does not check if a site is online, sync devices or support multiple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core Python concepts: Lists manage the collection, Dictionaries describe each website, File Handling saves to websites.json, and Tkinter provides the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workflow left to right, then the six modules: Input, Record, Storage, Search, Display and Delete. Example record: {"name": "Python Documentation", "url": "https://docs.python.org/3/", "category": "Education", "notes": "Official Python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test cases cover add, missing input, search, delete, persistence and clear search. Before submission, run the program on the target computer and record the actual result for each test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strengths and limits, then the roadmap. References: Python 3 docs (docs.python.org/3/), Tkinter docs (docs.python.org/3/library/tkinter.html), json module docs (docs.python.org/3/library/json.html), Python data structures tutorial (docs.python.org/3/tutorial/datastructures.html).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image" Target="../media/image-1002-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eg"/><Relationship Id="rId2" Type="http://schemas.openxmlformats.org/officeDocument/2006/relationships/image" Target="../media/image-1003-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Shape 1"/>
          <p:cNvSpPr/>
          <p:nvPr/>
        </p:nvSpPr>
        <p:spPr>
          <a:xfrm>
            <a:off x="0" y="0"/>
            <a:ext cx="12191695" cy="1188720"/>
          </a:xfrm>
          <a:prstGeom prst="rect">
            <a:avLst/>
          </a:prstGeom>
          <a:solidFill>
            <a:schemeClr val="bg1"/>
          </a:solidFill>
          <a:ln/>
        </p:spPr>
      </p:sp>
      <p:pic>
        <p:nvPicPr>
          <p:cNvPr id="4" name="Image 0" descr="logo_adit.jpeg">    </p:cNvPr>
          <p:cNvPicPr>
            <a:picLocks noChangeAspect="1"/>
          </p:cNvPicPr>
          <p:nvPr/>
        </p:nvPicPr>
        <p:blipFill>
          <a:blip r:embed="rId1"/>
          <a:stretch>
            <a:fillRect/>
          </a:stretch>
        </p:blipFill>
        <p:spPr>
          <a:xfrm>
            <a:off x="502920" y="137160"/>
            <a:ext cx="1020470" cy="914400"/>
          </a:xfrm>
          <a:prstGeom prst="rect">
            <a:avLst/>
          </a:prstGeom>
        </p:spPr>
      </p:pic>
      <p:pic>
        <p:nvPicPr>
          <p:cNvPr id="5" name="Image 1" descr="logo_cvm.jpeg">    </p:cNvPr>
          <p:cNvPicPr>
            <a:picLocks noChangeAspect="1"/>
          </p:cNvPicPr>
          <p:nvPr/>
        </p:nvPicPr>
        <p:blipFill>
          <a:blip r:embed="rId2"/>
          <a:stretch>
            <a:fillRect/>
          </a:stretch>
        </p:blipFill>
        <p:spPr>
          <a:xfrm>
            <a:off x="10797235" y="137160"/>
            <a:ext cx="891540" cy="914400"/>
          </a:xfrm>
          <a:prstGeom prst="rect">
            <a:avLst/>
          </a:prstGeom>
        </p:spPr>
      </p:pic>
      <p:sp>
        <p:nvSpPr>
          <p:cNvPr id="6" name="Text 2"/>
          <p:cNvSpPr/>
          <p:nvPr/>
        </p:nvSpPr>
        <p:spPr>
          <a:xfrm>
            <a:off x="1828800" y="182880"/>
            <a:ext cx="8534095" cy="365760"/>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A D PATEL INSTITUTE OF TECHNOLOGY</a:t>
            </a:r>
            <a:endParaRPr lang="en-US" sz="2200" dirty="0"/>
          </a:p>
        </p:txBody>
      </p:sp>
      <p:sp>
        <p:nvSpPr>
          <p:cNvPr id="7" name="Text 3"/>
          <p:cNvSpPr/>
          <p:nvPr/>
        </p:nvSpPr>
        <p:spPr>
          <a:xfrm>
            <a:off x="1828800" y="548640"/>
            <a:ext cx="8534095" cy="292608"/>
          </a:xfrm>
          <a:prstGeom prst="rect">
            <a:avLst/>
          </a:prstGeom>
          <a:noFill/>
          <a:ln/>
        </p:spPr>
        <p:txBody>
          <a:bodyPr wrap="square" lIns="0" tIns="0" rIns="0" bIns="0" rtlCol="0" anchor="ctr"/>
          <a:lstStyle/>
          <a:p>
            <a:pPr algn="ctr" indent="0" marL="0">
              <a:buNone/>
            </a:pPr>
            <a:r>
              <a:rPr lang="en-US" sz="1700" b="1" dirty="0">
                <a:solidFill>
                  <a:schemeClr val="tx1"/>
                </a:solidFill>
                <a:latin typeface="+mj-lt" pitchFamily="34" charset="0"/>
                <a:ea typeface="+mj-lt" pitchFamily="34" charset="-122"/>
                <a:cs typeface="+mj-lt" pitchFamily="34" charset="-120"/>
              </a:rPr>
              <a:t>THE CHARUTAR VIDYA MANDAL</a:t>
            </a:r>
            <a:endParaRPr lang="en-US" sz="1700" dirty="0"/>
          </a:p>
        </p:txBody>
      </p:sp>
      <p:sp>
        <p:nvSpPr>
          <p:cNvPr id="8" name="Text 4"/>
          <p:cNvSpPr/>
          <p:nvPr/>
        </p:nvSpPr>
        <p:spPr>
          <a:xfrm>
            <a:off x="1828800" y="841248"/>
            <a:ext cx="8534095" cy="256032"/>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DEPT. OF INFORMATION TECHNOLOGY</a:t>
            </a:r>
            <a:endParaRPr lang="en-US" sz="1400" dirty="0"/>
          </a:p>
        </p:txBody>
      </p:sp>
      <p:sp>
        <p:nvSpPr>
          <p:cNvPr id="9"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chemeClr val="bg1"/>
                </a:solidFill>
              </a:rPr>
              <a:t>Website Data Tracker  |  Department of Information Technology</a:t>
            </a:r>
            <a:endParaRPr lang="en-US" sz="1100" dirty="0"/>
          </a:p>
        </p:txBody>
      </p:sp>
      <p:sp>
        <p:nvSpPr>
          <p:cNvPr id="10" name="Text 6"/>
          <p:cNvSpPr/>
          <p:nvPr>
            <p:ph idx="108" type="title" hasCustomPrompt="1"/>
          </p:nvPr>
        </p:nvSpPr>
        <p:spPr>
          <a:xfrm>
            <a:off x="548640" y="2743200"/>
            <a:ext cx="6217920" cy="1828800"/>
          </a:xfrm>
          <a:prstGeom prst="rect">
            <a:avLst/>
          </a:prstGeom>
          <a:noFill/>
          <a:ln/>
        </p:spPr>
        <p:txBody>
          <a:bodyPr wrap="square" rtlCol="0"/>
          <a:lstStyle>
            <a:lvl1pPr algn="l" indent="0" marL="0">
              <a:buNone/>
              <a:defRPr lang="en-US" sz="5000" b="1" dirty="0">
                <a:solidFill>
                  <a:schemeClr val="bg1"/>
                </a:solidFill>
                <a:latin typeface="+mj-lt" pitchFamily="34" charset="0"/>
                <a:ea typeface="+mj-lt" pitchFamily="34" charset="-122"/>
                <a:cs typeface="+mj-lt" pitchFamily="34" charset="-120"/>
              </a:defRPr>
            </a:lvl1pPr>
          </a:lstStyle>
          <a:p>
            <a:pPr algn="l" indent="0" marL="0">
              <a:buNone/>
            </a:pPr>
            <a:endParaRPr lang="en-US" sz="5000" dirty="0"/>
          </a:p>
        </p:txBody>
      </p:sp>
      <p:sp>
        <p:nvSpPr>
          <p:cNvPr id="11" name="Text 6"/>
          <p:cNvSpPr/>
          <p:nvPr>
            <p:ph idx="109" type="body" hasCustomPrompt="1"/>
          </p:nvPr>
        </p:nvSpPr>
        <p:spPr>
          <a:xfrm>
            <a:off x="548640" y="4663440"/>
            <a:ext cx="6217920" cy="73152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2"/>
          </a:solidFill>
          <a:ln/>
        </p:spPr>
      </p:sp>
      <p:sp>
        <p:nvSpPr>
          <p:cNvPr id="3" name="Shape 1"/>
          <p:cNvSpPr/>
          <p:nvPr/>
        </p:nvSpPr>
        <p:spPr>
          <a:xfrm>
            <a:off x="0" y="0"/>
            <a:ext cx="12191695" cy="1188720"/>
          </a:xfrm>
          <a:prstGeom prst="rect">
            <a:avLst/>
          </a:prstGeom>
          <a:solidFill>
            <a:schemeClr val="bg1"/>
          </a:solidFill>
          <a:ln/>
        </p:spPr>
      </p:sp>
      <p:pic>
        <p:nvPicPr>
          <p:cNvPr id="4" name="Image 0" descr="logo_adit.jpeg">    </p:cNvPr>
          <p:cNvPicPr>
            <a:picLocks noChangeAspect="1"/>
          </p:cNvPicPr>
          <p:nvPr/>
        </p:nvPicPr>
        <p:blipFill>
          <a:blip r:embed="rId1"/>
          <a:stretch>
            <a:fillRect/>
          </a:stretch>
        </p:blipFill>
        <p:spPr>
          <a:xfrm>
            <a:off x="502920" y="137160"/>
            <a:ext cx="1020470" cy="914400"/>
          </a:xfrm>
          <a:prstGeom prst="rect">
            <a:avLst/>
          </a:prstGeom>
        </p:spPr>
      </p:pic>
      <p:pic>
        <p:nvPicPr>
          <p:cNvPr id="5" name="Image 1" descr="logo_cvm.jpeg">    </p:cNvPr>
          <p:cNvPicPr>
            <a:picLocks noChangeAspect="1"/>
          </p:cNvPicPr>
          <p:nvPr/>
        </p:nvPicPr>
        <p:blipFill>
          <a:blip r:embed="rId2"/>
          <a:stretch>
            <a:fillRect/>
          </a:stretch>
        </p:blipFill>
        <p:spPr>
          <a:xfrm>
            <a:off x="10797235" y="137160"/>
            <a:ext cx="891540" cy="914400"/>
          </a:xfrm>
          <a:prstGeom prst="rect">
            <a:avLst/>
          </a:prstGeom>
        </p:spPr>
      </p:pic>
      <p:sp>
        <p:nvSpPr>
          <p:cNvPr id="6" name="Text 2"/>
          <p:cNvSpPr/>
          <p:nvPr/>
        </p:nvSpPr>
        <p:spPr>
          <a:xfrm>
            <a:off x="1828800" y="182880"/>
            <a:ext cx="8534095" cy="365760"/>
          </a:xfrm>
          <a:prstGeom prst="rect">
            <a:avLst/>
          </a:prstGeom>
          <a:noFill/>
          <a:ln/>
        </p:spPr>
        <p:txBody>
          <a:bodyPr wrap="square" lIns="0" tIns="0" rIns="0" bIns="0" rtlCol="0" anchor="ctr"/>
          <a:lstStyle/>
          <a:p>
            <a:pPr algn="ctr" indent="0" marL="0">
              <a:buNone/>
            </a:pPr>
            <a:r>
              <a:rPr lang="en-US" sz="2200" b="1" dirty="0">
                <a:solidFill>
                  <a:schemeClr val="tx2"/>
                </a:solidFill>
                <a:latin typeface="+mj-lt" pitchFamily="34" charset="0"/>
                <a:ea typeface="+mj-lt" pitchFamily="34" charset="-122"/>
                <a:cs typeface="+mj-lt" pitchFamily="34" charset="-120"/>
              </a:rPr>
              <a:t>A D PATEL INSTITUTE OF TECHNOLOGY</a:t>
            </a:r>
            <a:endParaRPr lang="en-US" sz="2200" dirty="0"/>
          </a:p>
        </p:txBody>
      </p:sp>
      <p:sp>
        <p:nvSpPr>
          <p:cNvPr id="7" name="Text 3"/>
          <p:cNvSpPr/>
          <p:nvPr/>
        </p:nvSpPr>
        <p:spPr>
          <a:xfrm>
            <a:off x="1828800" y="548640"/>
            <a:ext cx="8534095" cy="292608"/>
          </a:xfrm>
          <a:prstGeom prst="rect">
            <a:avLst/>
          </a:prstGeom>
          <a:noFill/>
          <a:ln/>
        </p:spPr>
        <p:txBody>
          <a:bodyPr wrap="square" lIns="0" tIns="0" rIns="0" bIns="0" rtlCol="0" anchor="ctr"/>
          <a:lstStyle/>
          <a:p>
            <a:pPr algn="ctr" indent="0" marL="0">
              <a:buNone/>
            </a:pPr>
            <a:r>
              <a:rPr lang="en-US" sz="1700" b="1" dirty="0">
                <a:solidFill>
                  <a:schemeClr val="tx1"/>
                </a:solidFill>
                <a:latin typeface="+mj-lt" pitchFamily="34" charset="0"/>
                <a:ea typeface="+mj-lt" pitchFamily="34" charset="-122"/>
                <a:cs typeface="+mj-lt" pitchFamily="34" charset="-120"/>
              </a:rPr>
              <a:t>THE CHARUTAR VIDYA MANDAL</a:t>
            </a:r>
            <a:endParaRPr lang="en-US" sz="1700" dirty="0"/>
          </a:p>
        </p:txBody>
      </p:sp>
      <p:sp>
        <p:nvSpPr>
          <p:cNvPr id="8" name="Text 4"/>
          <p:cNvSpPr/>
          <p:nvPr/>
        </p:nvSpPr>
        <p:spPr>
          <a:xfrm>
            <a:off x="1828800" y="841248"/>
            <a:ext cx="8534095" cy="256032"/>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DEPT. OF INFORMATION TECHNOLOGY</a:t>
            </a:r>
            <a:endParaRPr lang="en-US" sz="1400" dirty="0"/>
          </a:p>
        </p:txBody>
      </p:sp>
      <p:sp>
        <p:nvSpPr>
          <p:cNvPr id="9"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100" dirty="0">
                <a:solidFill>
                  <a:schemeClr val="tx2"/>
                </a:solidFill>
              </a:rPr>
              <a:t>Website Data Tracker  |  Department of Information Technology</a:t>
            </a:r>
            <a:endParaRPr lang="en-US" sz="1100" dirty="0"/>
          </a:p>
        </p:txBody>
      </p:sp>
      <p:sp>
        <p:nvSpPr>
          <p:cNvPr id="10" name="Text 6"/>
          <p:cNvSpPr/>
          <p:nvPr>
            <p:ph idx="108" type="title" hasCustomPrompt="1"/>
          </p:nvPr>
        </p:nvSpPr>
        <p:spPr>
          <a:xfrm>
            <a:off x="548640" y="1371600"/>
            <a:ext cx="11091672" cy="64008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2240280"/>
            <a:ext cx="6217920" cy="365760"/>
          </a:xfrm>
          <a:prstGeom prst="rect">
            <a:avLst/>
          </a:prstGeom>
          <a:noFill/>
          <a:ln/>
        </p:spPr>
        <p:txBody>
          <a:bodyPr wrap="square" lIns="0" tIns="0" rIns="0" bIns="0" rtlCol="0" anchor="ctr"/>
          <a:lstStyle/>
          <a:p>
            <a:pPr indent="0" marL="0">
              <a:buNone/>
            </a:pPr>
            <a:r>
              <a:rPr lang="en-US" sz="1800" b="1" dirty="0">
                <a:solidFill>
                  <a:schemeClr val="accent3"/>
                </a:solidFill>
              </a:rPr>
              <a:t>PYTHON MINI PROJECT REPORT</a:t>
            </a:r>
            <a:endParaRPr lang="en-US" sz="1800" dirty="0"/>
          </a:p>
        </p:txBody>
      </p:sp>
      <p:sp>
        <p:nvSpPr>
          <p:cNvPr id="3" name="Text 6"/>
          <p:cNvSpPr/>
          <p:nvPr>
            <p:ph idx="108" type="title" hasCustomPrompt="1"/>
          </p:nvPr>
        </p:nvSpPr>
        <p:spPr>
          <a:xfrm>
            <a:off x="548640" y="2743200"/>
            <a:ext cx="6217920" cy="1828800"/>
          </a:xfrm>
          <a:prstGeom prst="rect">
            <a:avLst/>
          </a:prstGeom>
          <a:noFill/>
          <a:ln/>
        </p:spPr>
        <p:txBody>
          <a:bodyPr wrap="square" lIns="0" tIns="0" rIns="0" bIns="0" rtlCol="0" anchor="t"/>
          <a:lstStyle/>
          <a:p>
            <a:pPr algn="l" indent="0" marL="0">
              <a:buNone/>
            </a:pPr>
            <a:r>
              <a:rPr lang="en-US" sz="5000" b="1" dirty="0">
                <a:solidFill>
                  <a:schemeClr val="bg1"/>
                </a:solidFill>
                <a:latin typeface="+mj-lt" pitchFamily="34" charset="0"/>
                <a:ea typeface="+mj-lt" pitchFamily="34" charset="-122"/>
                <a:cs typeface="+mj-lt" pitchFamily="34" charset="-120"/>
              </a:rPr>
              <a:t>WEBSITE DATA TRACKER</a:t>
            </a:r>
            <a:endParaRPr lang="en-US" sz="5000" dirty="0"/>
          </a:p>
        </p:txBody>
      </p:sp>
      <p:sp>
        <p:nvSpPr>
          <p:cNvPr id="4" name="Text 6"/>
          <p:cNvSpPr/>
          <p:nvPr>
            <p:ph idx="109" type="body" hasCustomPrompt="1"/>
          </p:nvPr>
        </p:nvSpPr>
        <p:spPr>
          <a:xfrm>
            <a:off x="548640" y="4663440"/>
            <a:ext cx="6217920" cy="731520"/>
          </a:xfrm>
          <a:prstGeom prst="rect">
            <a:avLst/>
          </a:prstGeom>
          <a:noFill/>
          <a:ln/>
        </p:spPr>
        <p:txBody>
          <a:bodyPr wrap="square" lIns="0" tIns="0" rIns="0" bIns="0" rtlCol="0" anchor="t"/>
          <a:lstStyle/>
          <a:p>
            <a:pPr indent="0" marL="0">
              <a:buNone/>
            </a:pPr>
            <a:r>
              <a:rPr lang="en-US" sz="2200" dirty="0">
                <a:solidFill>
                  <a:schemeClr val="accent5"/>
                </a:solidFill>
              </a:rPr>
              <a:t>A desktop application for organizing website records</a:t>
            </a:r>
            <a:endParaRPr lang="en-US" sz="2200" dirty="0"/>
          </a:p>
        </p:txBody>
      </p:sp>
      <p:sp>
        <p:nvSpPr>
          <p:cNvPr id="5" name="Academic year"/>
          <p:cNvSpPr txBox="1"/>
          <p:nvPr/>
        </p:nvSpPr>
        <p:spPr>
          <a:xfrm>
            <a:off x="548640" y="5577840"/>
            <a:ext cx="6217920" cy="365760"/>
          </a:xfrm>
          <a:prstGeom prst="rect">
            <a:avLst/>
          </a:prstGeom>
          <a:noFill/>
          <a:ln/>
        </p:spPr>
        <p:txBody>
          <a:bodyPr wrap="square" lIns="0" tIns="0" rIns="0" bIns="0" rtlCol="0" anchor="ctr"/>
          <a:lstStyle/>
          <a:p>
            <a:pPr indent="0" marL="0">
              <a:buNone/>
            </a:pPr>
            <a:r>
              <a:rPr lang="en-US" sz="1800" b="1" dirty="0">
                <a:solidFill>
                  <a:schemeClr val="accent3"/>
                </a:solidFill>
              </a:rPr>
              <a:t>Academic Year: 2026–2027</a:t>
            </a:r>
            <a:endParaRPr lang="en-US" sz="1800" dirty="0"/>
          </a:p>
        </p:txBody>
      </p:sp>
      <p:sp>
        <p:nvSpPr>
          <p:cNvPr id="6" name="Project details card"/>
          <p:cNvSpPr/>
          <p:nvPr/>
        </p:nvSpPr>
        <p:spPr>
          <a:xfrm>
            <a:off x="7178040" y="1691640"/>
            <a:ext cx="4462272" cy="4343400"/>
          </a:xfrm>
          <a:prstGeom prst="roundRect">
            <a:avLst>
              <a:gd name="adj" fmla="val 2526"/>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7" name="Detail label 1"/>
          <p:cNvSpPr txBox="1"/>
          <p:nvPr/>
        </p:nvSpPr>
        <p:spPr>
          <a:xfrm>
            <a:off x="7498080" y="1874520"/>
            <a:ext cx="3840480" cy="256032"/>
          </a:xfrm>
          <a:prstGeom prst="rect">
            <a:avLst/>
          </a:prstGeom>
          <a:noFill/>
          <a:ln/>
        </p:spPr>
        <p:txBody>
          <a:bodyPr wrap="square" lIns="0" tIns="0" rIns="0" bIns="0" rtlCol="0" anchor="ctr"/>
          <a:lstStyle/>
          <a:p>
            <a:pPr indent="0" marL="0">
              <a:buNone/>
            </a:pPr>
            <a:r>
              <a:rPr lang="en-US" sz="1200" b="1" dirty="0">
                <a:solidFill>
                  <a:schemeClr val="accent2"/>
                </a:solidFill>
              </a:rPr>
              <a:t>SUBMITTED BY</a:t>
            </a:r>
            <a:endParaRPr lang="en-US" sz="1200" dirty="0"/>
          </a:p>
        </p:txBody>
      </p:sp>
      <p:sp>
        <p:nvSpPr>
          <p:cNvPr id="8" name="Detail value 1"/>
          <p:cNvSpPr txBox="1"/>
          <p:nvPr/>
        </p:nvSpPr>
        <p:spPr>
          <a:xfrm>
            <a:off x="7498080" y="2130552"/>
            <a:ext cx="3840480" cy="502920"/>
          </a:xfrm>
          <a:prstGeom prst="rect">
            <a:avLst/>
          </a:prstGeom>
          <a:noFill/>
          <a:ln/>
        </p:spPr>
        <p:txBody>
          <a:bodyPr wrap="square" lIns="0" tIns="0" rIns="0" bIns="0" rtlCol="0" anchor="t"/>
          <a:lstStyle/>
          <a:p>
            <a:pPr indent="0" marL="0">
              <a:buNone/>
            </a:pPr>
            <a:r>
              <a:rPr lang="en-US" sz="1700" b="1" dirty="0">
                <a:solidFill>
                  <a:schemeClr val="tx2"/>
                </a:solidFill>
              </a:rPr>
              <a:t>Modh Bhavi</a:t>
            </a:r>
            <a:endParaRPr lang="en-US" sz="1700" dirty="0"/>
          </a:p>
        </p:txBody>
      </p:sp>
      <p:sp>
        <p:nvSpPr>
          <p:cNvPr id="9" name="Detail label 2"/>
          <p:cNvSpPr txBox="1"/>
          <p:nvPr/>
        </p:nvSpPr>
        <p:spPr>
          <a:xfrm>
            <a:off x="7498080" y="2679192"/>
            <a:ext cx="3840480" cy="256032"/>
          </a:xfrm>
          <a:prstGeom prst="rect">
            <a:avLst/>
          </a:prstGeom>
          <a:noFill/>
          <a:ln/>
        </p:spPr>
        <p:txBody>
          <a:bodyPr wrap="square" lIns="0" tIns="0" rIns="0" bIns="0" rtlCol="0" anchor="ctr"/>
          <a:lstStyle/>
          <a:p>
            <a:pPr indent="0" marL="0">
              <a:buNone/>
            </a:pPr>
            <a:r>
              <a:rPr lang="en-US" sz="1200" b="1" dirty="0">
                <a:solidFill>
                  <a:schemeClr val="accent2"/>
                </a:solidFill>
              </a:rPr>
              <a:t>ENROLLMENT NO.</a:t>
            </a:r>
            <a:endParaRPr lang="en-US" sz="1200" dirty="0"/>
          </a:p>
        </p:txBody>
      </p:sp>
      <p:sp>
        <p:nvSpPr>
          <p:cNvPr id="10" name="Detail value 2"/>
          <p:cNvSpPr txBox="1"/>
          <p:nvPr/>
        </p:nvSpPr>
        <p:spPr>
          <a:xfrm>
            <a:off x="7498080" y="2935224"/>
            <a:ext cx="3840480" cy="502920"/>
          </a:xfrm>
          <a:prstGeom prst="rect">
            <a:avLst/>
          </a:prstGeom>
          <a:noFill/>
          <a:ln/>
        </p:spPr>
        <p:txBody>
          <a:bodyPr wrap="square" lIns="0" tIns="0" rIns="0" bIns="0" rtlCol="0" anchor="t"/>
          <a:lstStyle/>
          <a:p>
            <a:pPr indent="0" marL="0">
              <a:buNone/>
            </a:pPr>
            <a:r>
              <a:rPr lang="en-US" sz="1700" b="1" dirty="0">
                <a:solidFill>
                  <a:schemeClr val="tx2"/>
                </a:solidFill>
              </a:rPr>
              <a:t>12502080603003</a:t>
            </a:r>
            <a:endParaRPr lang="en-US" sz="1700" dirty="0"/>
          </a:p>
        </p:txBody>
      </p:sp>
      <p:sp>
        <p:nvSpPr>
          <p:cNvPr id="11" name="Detail label 3"/>
          <p:cNvSpPr txBox="1"/>
          <p:nvPr/>
        </p:nvSpPr>
        <p:spPr>
          <a:xfrm>
            <a:off x="7498080" y="3483864"/>
            <a:ext cx="3840480" cy="256032"/>
          </a:xfrm>
          <a:prstGeom prst="rect">
            <a:avLst/>
          </a:prstGeom>
          <a:noFill/>
          <a:ln/>
        </p:spPr>
        <p:txBody>
          <a:bodyPr wrap="square" lIns="0" tIns="0" rIns="0" bIns="0" rtlCol="0" anchor="ctr"/>
          <a:lstStyle/>
          <a:p>
            <a:pPr indent="0" marL="0">
              <a:buNone/>
            </a:pPr>
            <a:r>
              <a:rPr lang="en-US" sz="1200" b="1" dirty="0">
                <a:solidFill>
                  <a:schemeClr val="accent2"/>
                </a:solidFill>
              </a:rPr>
              <a:t>FACULTY GUIDE</a:t>
            </a:r>
            <a:endParaRPr lang="en-US" sz="1200" dirty="0"/>
          </a:p>
        </p:txBody>
      </p:sp>
      <p:sp>
        <p:nvSpPr>
          <p:cNvPr id="12" name="Detail value 3"/>
          <p:cNvSpPr txBox="1"/>
          <p:nvPr/>
        </p:nvSpPr>
        <p:spPr>
          <a:xfrm>
            <a:off x="7498080" y="3739896"/>
            <a:ext cx="3840480" cy="502920"/>
          </a:xfrm>
          <a:prstGeom prst="rect">
            <a:avLst/>
          </a:prstGeom>
          <a:noFill/>
          <a:ln/>
        </p:spPr>
        <p:txBody>
          <a:bodyPr wrap="square" lIns="0" tIns="0" rIns="0" bIns="0" rtlCol="0" anchor="t"/>
          <a:lstStyle/>
          <a:p>
            <a:pPr indent="0" marL="0">
              <a:buNone/>
            </a:pPr>
            <a:r>
              <a:rPr lang="en-US" sz="1700" b="1" dirty="0">
                <a:solidFill>
                  <a:schemeClr val="tx2"/>
                </a:solidFill>
              </a:rPr>
              <a:t>Mr. Nayan Mali</a:t>
            </a:r>
            <a:endParaRPr lang="en-US" sz="1700" dirty="0"/>
          </a:p>
        </p:txBody>
      </p:sp>
      <p:sp>
        <p:nvSpPr>
          <p:cNvPr id="13" name="Detail label 4"/>
          <p:cNvSpPr txBox="1"/>
          <p:nvPr/>
        </p:nvSpPr>
        <p:spPr>
          <a:xfrm>
            <a:off x="7498080" y="4288536"/>
            <a:ext cx="3840480" cy="256032"/>
          </a:xfrm>
          <a:prstGeom prst="rect">
            <a:avLst/>
          </a:prstGeom>
          <a:noFill/>
          <a:ln/>
        </p:spPr>
        <p:txBody>
          <a:bodyPr wrap="square" lIns="0" tIns="0" rIns="0" bIns="0" rtlCol="0" anchor="ctr"/>
          <a:lstStyle/>
          <a:p>
            <a:pPr indent="0" marL="0">
              <a:buNone/>
            </a:pPr>
            <a:r>
              <a:rPr lang="en-US" sz="1200" b="1" dirty="0">
                <a:solidFill>
                  <a:schemeClr val="accent2"/>
                </a:solidFill>
              </a:rPr>
              <a:t>TECHNOLOGY</a:t>
            </a:r>
            <a:endParaRPr lang="en-US" sz="1200" dirty="0"/>
          </a:p>
        </p:txBody>
      </p:sp>
      <p:sp>
        <p:nvSpPr>
          <p:cNvPr id="14" name="Detail value 4"/>
          <p:cNvSpPr txBox="1"/>
          <p:nvPr/>
        </p:nvSpPr>
        <p:spPr>
          <a:xfrm>
            <a:off x="7498080" y="4544568"/>
            <a:ext cx="3840480" cy="502920"/>
          </a:xfrm>
          <a:prstGeom prst="rect">
            <a:avLst/>
          </a:prstGeom>
          <a:noFill/>
          <a:ln/>
        </p:spPr>
        <p:txBody>
          <a:bodyPr wrap="square" lIns="0" tIns="0" rIns="0" bIns="0" rtlCol="0" anchor="t"/>
          <a:lstStyle/>
          <a:p>
            <a:pPr indent="0" marL="0">
              <a:buNone/>
            </a:pPr>
            <a:r>
              <a:rPr lang="en-US" sz="1700" b="1" dirty="0">
                <a:solidFill>
                  <a:schemeClr val="tx2"/>
                </a:solidFill>
              </a:rPr>
              <a:t>Python 3 and Tkinter</a:t>
            </a:r>
            <a:endParaRPr lang="en-US" sz="1700" dirty="0"/>
          </a:p>
        </p:txBody>
      </p:sp>
      <p:sp>
        <p:nvSpPr>
          <p:cNvPr id="15" name="Detail label 5"/>
          <p:cNvSpPr txBox="1"/>
          <p:nvPr/>
        </p:nvSpPr>
        <p:spPr>
          <a:xfrm>
            <a:off x="7498080" y="5093208"/>
            <a:ext cx="3840480" cy="256032"/>
          </a:xfrm>
          <a:prstGeom prst="rect">
            <a:avLst/>
          </a:prstGeom>
          <a:noFill/>
          <a:ln/>
        </p:spPr>
        <p:txBody>
          <a:bodyPr wrap="square" lIns="0" tIns="0" rIns="0" bIns="0" rtlCol="0" anchor="ctr"/>
          <a:lstStyle/>
          <a:p>
            <a:pPr indent="0" marL="0">
              <a:buNone/>
            </a:pPr>
            <a:r>
              <a:rPr lang="en-US" sz="1200" b="1" dirty="0">
                <a:solidFill>
                  <a:schemeClr val="accent2"/>
                </a:solidFill>
              </a:rPr>
              <a:t>CORE CONCEPTS</a:t>
            </a:r>
            <a:endParaRPr lang="en-US" sz="1200" dirty="0"/>
          </a:p>
        </p:txBody>
      </p:sp>
      <p:sp>
        <p:nvSpPr>
          <p:cNvPr id="16" name="Detail value 5"/>
          <p:cNvSpPr txBox="1"/>
          <p:nvPr/>
        </p:nvSpPr>
        <p:spPr>
          <a:xfrm>
            <a:off x="7498080" y="5349240"/>
            <a:ext cx="3840480" cy="502920"/>
          </a:xfrm>
          <a:prstGeom prst="rect">
            <a:avLst/>
          </a:prstGeom>
          <a:noFill/>
          <a:ln/>
        </p:spPr>
        <p:txBody>
          <a:bodyPr wrap="square" lIns="0" tIns="0" rIns="0" bIns="0" rtlCol="0" anchor="t"/>
          <a:lstStyle/>
          <a:p>
            <a:pPr indent="0" marL="0">
              <a:buNone/>
            </a:pPr>
            <a:r>
              <a:rPr lang="en-US" sz="1700" b="1" dirty="0">
                <a:solidFill>
                  <a:schemeClr val="tx2"/>
                </a:solidFill>
              </a:rPr>
              <a:t>Lists, Dictionaries, File Handling, Tkinter</a:t>
            </a:r>
            <a:endParaRPr lang="en-US" sz="17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6"/>
          <p:cNvSpPr/>
          <p:nvPr>
            <p:ph idx="108" type="title" hasCustomPrompt="1"/>
          </p:nvPr>
        </p:nvSpPr>
        <p:spPr>
          <a:xfrm>
            <a:off x="548640" y="137160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Problem Statement &amp; Objectives</a:t>
            </a:r>
            <a:endParaRPr lang="en-US" sz="3400" dirty="0"/>
          </a:p>
        </p:txBody>
      </p:sp>
      <p:sp>
        <p:nvSpPr>
          <p:cNvPr id="3" name="Problem card"/>
          <p:cNvSpPr/>
          <p:nvPr/>
        </p:nvSpPr>
        <p:spPr>
          <a:xfrm>
            <a:off x="548640" y="2194560"/>
            <a:ext cx="4572000" cy="3931920"/>
          </a:xfrm>
          <a:prstGeom prst="roundRect">
            <a:avLst>
              <a:gd name="adj" fmla="val 2791"/>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4" name="Link icon circle"/>
          <p:cNvSpPr/>
          <p:nvPr/>
        </p:nvSpPr>
        <p:spPr>
          <a:xfrm>
            <a:off x="822960" y="2468880"/>
            <a:ext cx="640080" cy="640080"/>
          </a:xfrm>
          <a:prstGeom prst="ellipse">
            <a:avLst/>
          </a:prstGeom>
          <a:solidFill>
            <a:schemeClr val="accent1"/>
          </a:solidFill>
          <a:ln w="12700">
            <a:solidFill>
              <a:schemeClr val="accent1"/>
            </a:solidFill>
            <a:prstDash val="solid"/>
          </a:ln>
        </p:spPr>
      </p:sp>
      <p:pic>
        <p:nvPicPr>
          <p:cNvPr id="5" name="Link icon" descr="Link icon">    </p:cNvPr>
          <p:cNvPicPr>
            <a:picLocks noChangeAspect="1"/>
          </p:cNvPicPr>
          <p:nvPr/>
        </p:nvPicPr>
        <p:blipFill>
          <a:blip r:embed="rId1"/>
          <a:stretch>
            <a:fillRect/>
          </a:stretch>
        </p:blipFill>
        <p:spPr>
          <a:xfrm>
            <a:off x="982980" y="2628900"/>
            <a:ext cx="320040" cy="320040"/>
          </a:xfrm>
          <a:prstGeom prst="rect">
            <a:avLst/>
          </a:prstGeom>
        </p:spPr>
      </p:pic>
      <p:sp>
        <p:nvSpPr>
          <p:cNvPr id="6" name="Problem heading"/>
          <p:cNvSpPr txBox="1"/>
          <p:nvPr/>
        </p:nvSpPr>
        <p:spPr>
          <a:xfrm>
            <a:off x="1645920" y="2468880"/>
            <a:ext cx="3291840" cy="640080"/>
          </a:xfrm>
          <a:prstGeom prst="rect">
            <a:avLst/>
          </a:prstGeom>
          <a:noFill/>
          <a:ln/>
        </p:spPr>
        <p:txBody>
          <a:bodyPr wrap="square" lIns="0" tIns="0" rIns="0" bIns="0" rtlCol="0" anchor="ctr"/>
          <a:lstStyle/>
          <a:p>
            <a:pPr indent="0" marL="0">
              <a:buNone/>
            </a:pPr>
            <a:r>
              <a:rPr lang="en-US" sz="2400" b="1" dirty="0">
                <a:solidFill>
                  <a:schemeClr val="tx2"/>
                </a:solidFill>
                <a:latin typeface="+mj-lt" pitchFamily="34" charset="0"/>
                <a:ea typeface="+mj-lt" pitchFamily="34" charset="-122"/>
                <a:cs typeface="+mj-lt" pitchFamily="34" charset="-120"/>
              </a:rPr>
              <a:t>The Problem</a:t>
            </a:r>
            <a:endParaRPr lang="en-US" sz="2400" dirty="0"/>
          </a:p>
        </p:txBody>
      </p:sp>
      <p:sp>
        <p:nvSpPr>
          <p:cNvPr id="7" name="Problem text"/>
          <p:cNvSpPr txBox="1"/>
          <p:nvPr/>
        </p:nvSpPr>
        <p:spPr>
          <a:xfrm>
            <a:off x="822960" y="3291840"/>
            <a:ext cx="4023360" cy="1554480"/>
          </a:xfrm>
          <a:prstGeom prst="rect">
            <a:avLst/>
          </a:prstGeom>
          <a:noFill/>
          <a:ln/>
        </p:spPr>
        <p:txBody>
          <a:bodyPr wrap="square" lIns="0" tIns="0" rIns="0" bIns="0" rtlCol="0" anchor="t"/>
          <a:lstStyle/>
          <a:p>
            <a:pPr indent="0" marL="0">
              <a:buNone/>
            </a:pPr>
            <a:r>
              <a:rPr lang="en-US" sz="1600" dirty="0">
                <a:solidFill>
                  <a:schemeClr val="tx1"/>
                </a:solidFill>
              </a:rPr>
              <a:t>Useful website links end up scattered across notes, messages and browser tabs, which makes them hard to find later. There is no simple, structured place to keep a personal website list.</a:t>
            </a:r>
            <a:endParaRPr lang="en-US" sz="1600" dirty="0"/>
          </a:p>
        </p:txBody>
      </p:sp>
      <p:sp>
        <p:nvSpPr>
          <p:cNvPr id="8" name="Scope box"/>
          <p:cNvSpPr/>
          <p:nvPr/>
        </p:nvSpPr>
        <p:spPr>
          <a:xfrm>
            <a:off x="822960" y="4937760"/>
            <a:ext cx="4023360" cy="960120"/>
          </a:xfrm>
          <a:prstGeom prst="roundRect">
            <a:avLst>
              <a:gd name="adj" fmla="val 9524"/>
            </a:avLst>
          </a:prstGeom>
          <a:solidFill>
            <a:schemeClr val="bg2"/>
          </a:solidFill>
          <a:ln w="12700">
            <a:solidFill>
              <a:schemeClr val="bg2"/>
            </a:solidFill>
            <a:prstDash val="solid"/>
          </a:ln>
        </p:spPr>
      </p:sp>
      <p:sp>
        <p:nvSpPr>
          <p:cNvPr id="9" name="Scope text"/>
          <p:cNvSpPr txBox="1"/>
          <p:nvPr/>
        </p:nvSpPr>
        <p:spPr>
          <a:xfrm>
            <a:off x="960120" y="4983480"/>
            <a:ext cx="3749040" cy="868680"/>
          </a:xfrm>
          <a:prstGeom prst="rect">
            <a:avLst/>
          </a:prstGeom>
          <a:noFill/>
          <a:ln/>
        </p:spPr>
        <p:txBody>
          <a:bodyPr wrap="square" lIns="0" tIns="0" rIns="0" bIns="0" rtlCol="0" anchor="ctr"/>
          <a:lstStyle/>
          <a:p>
            <a:pPr indent="0" marL="0">
              <a:buNone/>
            </a:pPr>
            <a:r>
              <a:rPr lang="en-US" sz="1400" b="1" dirty="0">
                <a:solidFill>
                  <a:schemeClr val="tx2"/>
                </a:solidFill>
              </a:rPr>
              <a:t>Scope: </a:t>
            </a:r>
            <a:pPr indent="0" marL="0">
              <a:buNone/>
            </a:pPr>
            <a:r>
              <a:rPr lang="en-US" sz="1400" dirty="0">
                <a:solidFill>
                  <a:schemeClr val="tx1"/>
                </a:solidFill>
              </a:rPr>
              <a:t>local, one-computer prototype with manually entered records. No automatic browsing or visit monitoring.</a:t>
            </a:r>
            <a:endParaRPr lang="en-US" sz="1400" dirty="0"/>
          </a:p>
        </p:txBody>
      </p:sp>
      <p:sp>
        <p:nvSpPr>
          <p:cNvPr id="10" name="Objective card 1"/>
          <p:cNvSpPr/>
          <p:nvPr/>
        </p:nvSpPr>
        <p:spPr>
          <a:xfrm>
            <a:off x="5349240" y="2194560"/>
            <a:ext cx="3044952" cy="192024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11" name="Tkinter GUI icon circle"/>
          <p:cNvSpPr/>
          <p:nvPr/>
        </p:nvSpPr>
        <p:spPr>
          <a:xfrm>
            <a:off x="5577840" y="2423160"/>
            <a:ext cx="594360" cy="594360"/>
          </a:xfrm>
          <a:prstGeom prst="ellipse">
            <a:avLst/>
          </a:prstGeom>
          <a:solidFill>
            <a:schemeClr val="accent1"/>
          </a:solidFill>
          <a:ln w="12700">
            <a:solidFill>
              <a:schemeClr val="accent1"/>
            </a:solidFill>
            <a:prstDash val="solid"/>
          </a:ln>
        </p:spPr>
      </p:sp>
      <p:pic>
        <p:nvPicPr>
          <p:cNvPr id="12" name="Tkinter GUI icon" descr="Tkinter GUI icon">    </p:cNvPr>
          <p:cNvPicPr>
            <a:picLocks noChangeAspect="1"/>
          </p:cNvPicPr>
          <p:nvPr/>
        </p:nvPicPr>
        <p:blipFill>
          <a:blip r:embed="rId2"/>
          <a:stretch>
            <a:fillRect/>
          </a:stretch>
        </p:blipFill>
        <p:spPr>
          <a:xfrm>
            <a:off x="5726430" y="2571750"/>
            <a:ext cx="297180" cy="297180"/>
          </a:xfrm>
          <a:prstGeom prst="rect">
            <a:avLst/>
          </a:prstGeom>
        </p:spPr>
      </p:pic>
      <p:sp>
        <p:nvSpPr>
          <p:cNvPr id="13" name="Objective title 1"/>
          <p:cNvSpPr txBox="1"/>
          <p:nvPr/>
        </p:nvSpPr>
        <p:spPr>
          <a:xfrm>
            <a:off x="5577840" y="3108960"/>
            <a:ext cx="2606040" cy="365760"/>
          </a:xfrm>
          <a:prstGeom prst="rect">
            <a:avLst/>
          </a:prstGeom>
          <a:noFill/>
          <a:ln/>
        </p:spPr>
        <p:txBody>
          <a:bodyPr wrap="square" lIns="0" tIns="0" rIns="0" bIns="0" rtlCol="0" anchor="ctr"/>
          <a:lstStyle/>
          <a:p>
            <a:pPr indent="0" marL="0">
              <a:buNone/>
            </a:pPr>
            <a:r>
              <a:rPr lang="en-US" sz="1900" b="1" dirty="0">
                <a:solidFill>
                  <a:schemeClr val="tx2"/>
                </a:solidFill>
              </a:rPr>
              <a:t>Tkinter GUI</a:t>
            </a:r>
            <a:endParaRPr lang="en-US" sz="1900" dirty="0"/>
          </a:p>
        </p:txBody>
      </p:sp>
      <p:sp>
        <p:nvSpPr>
          <p:cNvPr id="14" name="Objective text 1"/>
          <p:cNvSpPr txBox="1"/>
          <p:nvPr/>
        </p:nvSpPr>
        <p:spPr>
          <a:xfrm>
            <a:off x="5577840" y="3474720"/>
            <a:ext cx="2606040" cy="548640"/>
          </a:xfrm>
          <a:prstGeom prst="rect">
            <a:avLst/>
          </a:prstGeom>
          <a:noFill/>
          <a:ln/>
        </p:spPr>
        <p:txBody>
          <a:bodyPr wrap="square" lIns="0" tIns="0" rIns="0" bIns="0" rtlCol="0" anchor="t"/>
          <a:lstStyle/>
          <a:p>
            <a:pPr indent="0" marL="0">
              <a:buNone/>
            </a:pPr>
            <a:r>
              <a:rPr lang="en-US" sz="1400" dirty="0">
                <a:solidFill>
                  <a:schemeClr val="tx1"/>
                </a:solidFill>
              </a:rPr>
              <a:t>A user-friendly graphical interface</a:t>
            </a:r>
            <a:endParaRPr lang="en-US" sz="1400" dirty="0"/>
          </a:p>
        </p:txBody>
      </p:sp>
      <p:sp>
        <p:nvSpPr>
          <p:cNvPr id="15" name="Objective card 2"/>
          <p:cNvSpPr/>
          <p:nvPr/>
        </p:nvSpPr>
        <p:spPr>
          <a:xfrm>
            <a:off x="8595360" y="2194560"/>
            <a:ext cx="3044952" cy="192024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16" name="Add records icon circle"/>
          <p:cNvSpPr/>
          <p:nvPr/>
        </p:nvSpPr>
        <p:spPr>
          <a:xfrm>
            <a:off x="8823960" y="2423160"/>
            <a:ext cx="594360" cy="594360"/>
          </a:xfrm>
          <a:prstGeom prst="ellipse">
            <a:avLst/>
          </a:prstGeom>
          <a:solidFill>
            <a:schemeClr val="accent2"/>
          </a:solidFill>
          <a:ln w="12700">
            <a:solidFill>
              <a:schemeClr val="accent2"/>
            </a:solidFill>
            <a:prstDash val="solid"/>
          </a:ln>
        </p:spPr>
      </p:sp>
      <p:pic>
        <p:nvPicPr>
          <p:cNvPr id="17" name="Add records icon" descr="Add records icon">    </p:cNvPr>
          <p:cNvPicPr>
            <a:picLocks noChangeAspect="1"/>
          </p:cNvPicPr>
          <p:nvPr/>
        </p:nvPicPr>
        <p:blipFill>
          <a:blip r:embed="rId3"/>
          <a:stretch>
            <a:fillRect/>
          </a:stretch>
        </p:blipFill>
        <p:spPr>
          <a:xfrm>
            <a:off x="8972550" y="2571750"/>
            <a:ext cx="297180" cy="297180"/>
          </a:xfrm>
          <a:prstGeom prst="rect">
            <a:avLst/>
          </a:prstGeom>
        </p:spPr>
      </p:pic>
      <p:sp>
        <p:nvSpPr>
          <p:cNvPr id="18" name="Objective title 2"/>
          <p:cNvSpPr txBox="1"/>
          <p:nvPr/>
        </p:nvSpPr>
        <p:spPr>
          <a:xfrm>
            <a:off x="8823960" y="3108960"/>
            <a:ext cx="2606040" cy="365760"/>
          </a:xfrm>
          <a:prstGeom prst="rect">
            <a:avLst/>
          </a:prstGeom>
          <a:noFill/>
          <a:ln/>
        </p:spPr>
        <p:txBody>
          <a:bodyPr wrap="square" lIns="0" tIns="0" rIns="0" bIns="0" rtlCol="0" anchor="ctr"/>
          <a:lstStyle/>
          <a:p>
            <a:pPr indent="0" marL="0">
              <a:buNone/>
            </a:pPr>
            <a:r>
              <a:rPr lang="en-US" sz="1900" b="1" dirty="0">
                <a:solidFill>
                  <a:schemeClr val="tx2"/>
                </a:solidFill>
              </a:rPr>
              <a:t>Add records</a:t>
            </a:r>
            <a:endParaRPr lang="en-US" sz="1900" dirty="0"/>
          </a:p>
        </p:txBody>
      </p:sp>
      <p:sp>
        <p:nvSpPr>
          <p:cNvPr id="19" name="Objective text 2"/>
          <p:cNvSpPr txBox="1"/>
          <p:nvPr/>
        </p:nvSpPr>
        <p:spPr>
          <a:xfrm>
            <a:off x="8823960" y="3474720"/>
            <a:ext cx="2606040" cy="548640"/>
          </a:xfrm>
          <a:prstGeom prst="rect">
            <a:avLst/>
          </a:prstGeom>
          <a:noFill/>
          <a:ln/>
        </p:spPr>
        <p:txBody>
          <a:bodyPr wrap="square" lIns="0" tIns="0" rIns="0" bIns="0" rtlCol="0" anchor="t"/>
          <a:lstStyle/>
          <a:p>
            <a:pPr indent="0" marL="0">
              <a:buNone/>
            </a:pPr>
            <a:r>
              <a:rPr lang="en-US" sz="1400" dirty="0">
                <a:solidFill>
                  <a:schemeClr val="tx1"/>
                </a:solidFill>
              </a:rPr>
              <a:t>Website name, URL, category and notes</a:t>
            </a:r>
            <a:endParaRPr lang="en-US" sz="1400" dirty="0"/>
          </a:p>
        </p:txBody>
      </p:sp>
      <p:sp>
        <p:nvSpPr>
          <p:cNvPr id="20" name="Objective card 3"/>
          <p:cNvSpPr/>
          <p:nvPr/>
        </p:nvSpPr>
        <p:spPr>
          <a:xfrm>
            <a:off x="5349240" y="4206240"/>
            <a:ext cx="3044952" cy="192024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21" name="Save and load icon circle"/>
          <p:cNvSpPr/>
          <p:nvPr/>
        </p:nvSpPr>
        <p:spPr>
          <a:xfrm>
            <a:off x="5577840" y="4434840"/>
            <a:ext cx="594360" cy="594360"/>
          </a:xfrm>
          <a:prstGeom prst="ellipse">
            <a:avLst/>
          </a:prstGeom>
          <a:solidFill>
            <a:schemeClr val="accent1"/>
          </a:solidFill>
          <a:ln w="12700">
            <a:solidFill>
              <a:schemeClr val="accent1"/>
            </a:solidFill>
            <a:prstDash val="solid"/>
          </a:ln>
        </p:spPr>
      </p:sp>
      <p:pic>
        <p:nvPicPr>
          <p:cNvPr id="22" name="Save and load icon" descr="Save and load icon">    </p:cNvPr>
          <p:cNvPicPr>
            <a:picLocks noChangeAspect="1"/>
          </p:cNvPicPr>
          <p:nvPr/>
        </p:nvPicPr>
        <p:blipFill>
          <a:blip r:embed="rId4"/>
          <a:stretch>
            <a:fillRect/>
          </a:stretch>
        </p:blipFill>
        <p:spPr>
          <a:xfrm>
            <a:off x="5726430" y="4583430"/>
            <a:ext cx="297180" cy="297180"/>
          </a:xfrm>
          <a:prstGeom prst="rect">
            <a:avLst/>
          </a:prstGeom>
        </p:spPr>
      </p:pic>
      <p:sp>
        <p:nvSpPr>
          <p:cNvPr id="23" name="Objective title 3"/>
          <p:cNvSpPr txBox="1"/>
          <p:nvPr/>
        </p:nvSpPr>
        <p:spPr>
          <a:xfrm>
            <a:off x="5577840" y="5120640"/>
            <a:ext cx="2606040" cy="365760"/>
          </a:xfrm>
          <a:prstGeom prst="rect">
            <a:avLst/>
          </a:prstGeom>
          <a:noFill/>
          <a:ln/>
        </p:spPr>
        <p:txBody>
          <a:bodyPr wrap="square" lIns="0" tIns="0" rIns="0" bIns="0" rtlCol="0" anchor="ctr"/>
          <a:lstStyle/>
          <a:p>
            <a:pPr indent="0" marL="0">
              <a:buNone/>
            </a:pPr>
            <a:r>
              <a:rPr lang="en-US" sz="1900" b="1" dirty="0">
                <a:solidFill>
                  <a:schemeClr val="tx2"/>
                </a:solidFill>
              </a:rPr>
              <a:t>Save and load</a:t>
            </a:r>
            <a:endParaRPr lang="en-US" sz="1900" dirty="0"/>
          </a:p>
        </p:txBody>
      </p:sp>
      <p:sp>
        <p:nvSpPr>
          <p:cNvPr id="24" name="Objective text 3"/>
          <p:cNvSpPr txBox="1"/>
          <p:nvPr/>
        </p:nvSpPr>
        <p:spPr>
          <a:xfrm>
            <a:off x="5577840" y="5486400"/>
            <a:ext cx="2606040" cy="548640"/>
          </a:xfrm>
          <a:prstGeom prst="rect">
            <a:avLst/>
          </a:prstGeom>
          <a:noFill/>
          <a:ln/>
        </p:spPr>
        <p:txBody>
          <a:bodyPr wrap="square" lIns="0" tIns="0" rIns="0" bIns="0" rtlCol="0" anchor="t"/>
          <a:lstStyle/>
          <a:p>
            <a:pPr indent="0" marL="0">
              <a:buNone/>
            </a:pPr>
            <a:r>
              <a:rPr lang="en-US" sz="1400" dirty="0">
                <a:solidFill>
                  <a:schemeClr val="tx1"/>
                </a:solidFill>
              </a:rPr>
              <a:t>Keep records in a JSON file between runs</a:t>
            </a:r>
            <a:endParaRPr lang="en-US" sz="1400" dirty="0"/>
          </a:p>
        </p:txBody>
      </p:sp>
      <p:sp>
        <p:nvSpPr>
          <p:cNvPr id="25" name="Objective card 4"/>
          <p:cNvSpPr/>
          <p:nvPr/>
        </p:nvSpPr>
        <p:spPr>
          <a:xfrm>
            <a:off x="8595360" y="4206240"/>
            <a:ext cx="3044952" cy="192024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26" name="Search and delete icon circle"/>
          <p:cNvSpPr/>
          <p:nvPr/>
        </p:nvSpPr>
        <p:spPr>
          <a:xfrm>
            <a:off x="8823960" y="4434840"/>
            <a:ext cx="594360" cy="594360"/>
          </a:xfrm>
          <a:prstGeom prst="ellipse">
            <a:avLst/>
          </a:prstGeom>
          <a:solidFill>
            <a:schemeClr val="accent2"/>
          </a:solidFill>
          <a:ln w="12700">
            <a:solidFill>
              <a:schemeClr val="accent2"/>
            </a:solidFill>
            <a:prstDash val="solid"/>
          </a:ln>
        </p:spPr>
      </p:sp>
      <p:pic>
        <p:nvPicPr>
          <p:cNvPr id="27" name="Search and delete icon" descr="Search and delete icon">    </p:cNvPr>
          <p:cNvPicPr>
            <a:picLocks noChangeAspect="1"/>
          </p:cNvPicPr>
          <p:nvPr/>
        </p:nvPicPr>
        <p:blipFill>
          <a:blip r:embed="rId5"/>
          <a:stretch>
            <a:fillRect/>
          </a:stretch>
        </p:blipFill>
        <p:spPr>
          <a:xfrm>
            <a:off x="8972550" y="4583430"/>
            <a:ext cx="297180" cy="297180"/>
          </a:xfrm>
          <a:prstGeom prst="rect">
            <a:avLst/>
          </a:prstGeom>
        </p:spPr>
      </p:pic>
      <p:sp>
        <p:nvSpPr>
          <p:cNvPr id="28" name="Objective title 4"/>
          <p:cNvSpPr txBox="1"/>
          <p:nvPr/>
        </p:nvSpPr>
        <p:spPr>
          <a:xfrm>
            <a:off x="8823960" y="5120640"/>
            <a:ext cx="2606040" cy="365760"/>
          </a:xfrm>
          <a:prstGeom prst="rect">
            <a:avLst/>
          </a:prstGeom>
          <a:noFill/>
          <a:ln/>
        </p:spPr>
        <p:txBody>
          <a:bodyPr wrap="square" lIns="0" tIns="0" rIns="0" bIns="0" rtlCol="0" anchor="ctr"/>
          <a:lstStyle/>
          <a:p>
            <a:pPr indent="0" marL="0">
              <a:buNone/>
            </a:pPr>
            <a:r>
              <a:rPr lang="en-US" sz="1900" b="1" dirty="0">
                <a:solidFill>
                  <a:schemeClr val="tx2"/>
                </a:solidFill>
              </a:rPr>
              <a:t>Search and delete</a:t>
            </a:r>
            <a:endParaRPr lang="en-US" sz="1900" dirty="0"/>
          </a:p>
        </p:txBody>
      </p:sp>
      <p:sp>
        <p:nvSpPr>
          <p:cNvPr id="29" name="Objective text 4"/>
          <p:cNvSpPr txBox="1"/>
          <p:nvPr/>
        </p:nvSpPr>
        <p:spPr>
          <a:xfrm>
            <a:off x="8823960" y="5486400"/>
            <a:ext cx="2606040" cy="548640"/>
          </a:xfrm>
          <a:prstGeom prst="rect">
            <a:avLst/>
          </a:prstGeom>
          <a:noFill/>
          <a:ln/>
        </p:spPr>
        <p:txBody>
          <a:bodyPr wrap="square" lIns="0" tIns="0" rIns="0" bIns="0" rtlCol="0" anchor="t"/>
          <a:lstStyle/>
          <a:p>
            <a:pPr indent="0" marL="0">
              <a:buNone/>
            </a:pPr>
            <a:r>
              <a:rPr lang="en-US" sz="1400" dirty="0">
                <a:solidFill>
                  <a:schemeClr val="tx1"/>
                </a:solidFill>
              </a:rPr>
              <a:t>Find records fast and remove a selected one</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6"/>
          <p:cNvSpPr/>
          <p:nvPr>
            <p:ph idx="108" type="title" hasCustomPrompt="1"/>
          </p:nvPr>
        </p:nvSpPr>
        <p:spPr>
          <a:xfrm>
            <a:off x="548640" y="137160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Python Concepts Used</a:t>
            </a:r>
            <a:endParaRPr lang="en-US" sz="3400" dirty="0"/>
          </a:p>
        </p:txBody>
      </p:sp>
      <p:sp>
        <p:nvSpPr>
          <p:cNvPr id="3" name="Concept card 1"/>
          <p:cNvSpPr/>
          <p:nvPr/>
        </p:nvSpPr>
        <p:spPr>
          <a:xfrm>
            <a:off x="548640" y="2194560"/>
            <a:ext cx="2606040" cy="3931920"/>
          </a:xfrm>
          <a:prstGeom prst="roundRect">
            <a:avLst>
              <a:gd name="adj" fmla="val 4211"/>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4" name="Lists icon circle"/>
          <p:cNvSpPr/>
          <p:nvPr/>
        </p:nvSpPr>
        <p:spPr>
          <a:xfrm>
            <a:off x="822960" y="2468880"/>
            <a:ext cx="731520" cy="731520"/>
          </a:xfrm>
          <a:prstGeom prst="ellipse">
            <a:avLst/>
          </a:prstGeom>
          <a:solidFill>
            <a:schemeClr val="accent1"/>
          </a:solidFill>
          <a:ln w="12700">
            <a:solidFill>
              <a:schemeClr val="accent1"/>
            </a:solidFill>
            <a:prstDash val="solid"/>
          </a:ln>
        </p:spPr>
      </p:sp>
      <p:pic>
        <p:nvPicPr>
          <p:cNvPr id="5" name="Lists icon" descr="Lists icon">    </p:cNvPr>
          <p:cNvPicPr>
            <a:picLocks noChangeAspect="1"/>
          </p:cNvPicPr>
          <p:nvPr/>
        </p:nvPicPr>
        <p:blipFill>
          <a:blip r:embed="rId1"/>
          <a:stretch>
            <a:fillRect/>
          </a:stretch>
        </p:blipFill>
        <p:spPr>
          <a:xfrm>
            <a:off x="1005840" y="2651760"/>
            <a:ext cx="365760" cy="365760"/>
          </a:xfrm>
          <a:prstGeom prst="rect">
            <a:avLst/>
          </a:prstGeom>
        </p:spPr>
      </p:pic>
      <p:sp>
        <p:nvSpPr>
          <p:cNvPr id="6" name="Concept title 1"/>
          <p:cNvSpPr txBox="1"/>
          <p:nvPr/>
        </p:nvSpPr>
        <p:spPr>
          <a:xfrm>
            <a:off x="822960" y="3337560"/>
            <a:ext cx="2103120" cy="457200"/>
          </a:xfrm>
          <a:prstGeom prst="rect">
            <a:avLst/>
          </a:prstGeom>
          <a:noFill/>
          <a:ln/>
        </p:spPr>
        <p:txBody>
          <a:bodyPr wrap="square" lIns="0" tIns="0" rIns="0" bIns="0" rtlCol="0" anchor="ctr"/>
          <a:lstStyle/>
          <a:p>
            <a:pPr indent="0" marL="0">
              <a:buNone/>
            </a:pPr>
            <a:r>
              <a:rPr lang="en-US" sz="2200" b="1" dirty="0">
                <a:solidFill>
                  <a:schemeClr val="tx2"/>
                </a:solidFill>
                <a:latin typeface="+mj-lt" pitchFamily="34" charset="0"/>
                <a:ea typeface="+mj-lt" pitchFamily="34" charset="-122"/>
                <a:cs typeface="+mj-lt" pitchFamily="34" charset="-120"/>
              </a:rPr>
              <a:t>Lists</a:t>
            </a:r>
            <a:endParaRPr lang="en-US" sz="2200" dirty="0"/>
          </a:p>
        </p:txBody>
      </p:sp>
      <p:sp>
        <p:nvSpPr>
          <p:cNvPr id="7" name="Concept text 1"/>
          <p:cNvSpPr txBox="1"/>
          <p:nvPr/>
        </p:nvSpPr>
        <p:spPr>
          <a:xfrm>
            <a:off x="822960" y="3840480"/>
            <a:ext cx="2103120" cy="1600200"/>
          </a:xfrm>
          <a:prstGeom prst="rect">
            <a:avLst/>
          </a:prstGeom>
          <a:noFill/>
          <a:ln/>
        </p:spPr>
        <p:txBody>
          <a:bodyPr wrap="square" lIns="0" tIns="0" rIns="0" bIns="0" rtlCol="0" anchor="t"/>
          <a:lstStyle/>
          <a:p>
            <a:pPr indent="0" marL="0">
              <a:buNone/>
            </a:pPr>
            <a:r>
              <a:rPr lang="en-US" sz="1600" dirty="0">
                <a:solidFill>
                  <a:schemeClr val="tx1"/>
                </a:solidFill>
              </a:rPr>
              <a:t>The websites list holds every record. append() adds one, a loop searches, pop() removes one.</a:t>
            </a:r>
            <a:endParaRPr lang="en-US" sz="1600" dirty="0"/>
          </a:p>
        </p:txBody>
      </p:sp>
      <p:sp>
        <p:nvSpPr>
          <p:cNvPr id="8" name="Code chip 1"/>
          <p:cNvSpPr/>
          <p:nvPr/>
        </p:nvSpPr>
        <p:spPr>
          <a:xfrm>
            <a:off x="822960" y="5532120"/>
            <a:ext cx="2057400" cy="411480"/>
          </a:xfrm>
          <a:prstGeom prst="roundRect">
            <a:avLst>
              <a:gd name="adj" fmla="val 17778"/>
            </a:avLst>
          </a:prstGeom>
          <a:solidFill>
            <a:schemeClr val="bg2"/>
          </a:solidFill>
          <a:ln w="12700">
            <a:solidFill>
              <a:schemeClr val="bg2"/>
            </a:solidFill>
            <a:prstDash val="solid"/>
          </a:ln>
        </p:spPr>
      </p:sp>
      <p:sp>
        <p:nvSpPr>
          <p:cNvPr id="9" name="Code chip text 1"/>
          <p:cNvSpPr txBox="1"/>
          <p:nvPr/>
        </p:nvSpPr>
        <p:spPr>
          <a:xfrm>
            <a:off x="822960" y="5532120"/>
            <a:ext cx="2057400" cy="411480"/>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websites = [ ]</a:t>
            </a:r>
            <a:endParaRPr lang="en-US" sz="1200" dirty="0"/>
          </a:p>
        </p:txBody>
      </p:sp>
      <p:sp>
        <p:nvSpPr>
          <p:cNvPr id="10" name="Concept card 2"/>
          <p:cNvSpPr/>
          <p:nvPr/>
        </p:nvSpPr>
        <p:spPr>
          <a:xfrm>
            <a:off x="3374136" y="2194560"/>
            <a:ext cx="2606040" cy="3931920"/>
          </a:xfrm>
          <a:prstGeom prst="roundRect">
            <a:avLst>
              <a:gd name="adj" fmla="val 4211"/>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11" name="Dictionaries icon circle"/>
          <p:cNvSpPr/>
          <p:nvPr/>
        </p:nvSpPr>
        <p:spPr>
          <a:xfrm>
            <a:off x="3648456" y="2468880"/>
            <a:ext cx="731520" cy="731520"/>
          </a:xfrm>
          <a:prstGeom prst="ellipse">
            <a:avLst/>
          </a:prstGeom>
          <a:solidFill>
            <a:schemeClr val="accent2"/>
          </a:solidFill>
          <a:ln w="12700">
            <a:solidFill>
              <a:schemeClr val="accent2"/>
            </a:solidFill>
            <a:prstDash val="solid"/>
          </a:ln>
        </p:spPr>
      </p:sp>
      <p:pic>
        <p:nvPicPr>
          <p:cNvPr id="12" name="Dictionaries icon" descr="Dictionaries icon">    </p:cNvPr>
          <p:cNvPicPr>
            <a:picLocks noChangeAspect="1"/>
          </p:cNvPicPr>
          <p:nvPr/>
        </p:nvPicPr>
        <p:blipFill>
          <a:blip r:embed="rId2"/>
          <a:stretch>
            <a:fillRect/>
          </a:stretch>
        </p:blipFill>
        <p:spPr>
          <a:xfrm>
            <a:off x="3831336" y="2651760"/>
            <a:ext cx="365760" cy="365760"/>
          </a:xfrm>
          <a:prstGeom prst="rect">
            <a:avLst/>
          </a:prstGeom>
        </p:spPr>
      </p:pic>
      <p:sp>
        <p:nvSpPr>
          <p:cNvPr id="13" name="Concept title 2"/>
          <p:cNvSpPr txBox="1"/>
          <p:nvPr/>
        </p:nvSpPr>
        <p:spPr>
          <a:xfrm>
            <a:off x="3648456" y="3337560"/>
            <a:ext cx="2103120" cy="457200"/>
          </a:xfrm>
          <a:prstGeom prst="rect">
            <a:avLst/>
          </a:prstGeom>
          <a:noFill/>
          <a:ln/>
        </p:spPr>
        <p:txBody>
          <a:bodyPr wrap="square" lIns="0" tIns="0" rIns="0" bIns="0" rtlCol="0" anchor="ctr"/>
          <a:lstStyle/>
          <a:p>
            <a:pPr indent="0" marL="0">
              <a:buNone/>
            </a:pPr>
            <a:r>
              <a:rPr lang="en-US" sz="2200" b="1" dirty="0">
                <a:solidFill>
                  <a:schemeClr val="tx2"/>
                </a:solidFill>
                <a:latin typeface="+mj-lt" pitchFamily="34" charset="0"/>
                <a:ea typeface="+mj-lt" pitchFamily="34" charset="-122"/>
                <a:cs typeface="+mj-lt" pitchFamily="34" charset="-120"/>
              </a:rPr>
              <a:t>Dictionaries</a:t>
            </a:r>
            <a:endParaRPr lang="en-US" sz="2200" dirty="0"/>
          </a:p>
        </p:txBody>
      </p:sp>
      <p:sp>
        <p:nvSpPr>
          <p:cNvPr id="14" name="Concept text 2"/>
          <p:cNvSpPr txBox="1"/>
          <p:nvPr/>
        </p:nvSpPr>
        <p:spPr>
          <a:xfrm>
            <a:off x="3648456" y="3840480"/>
            <a:ext cx="2103120" cy="1600200"/>
          </a:xfrm>
          <a:prstGeom prst="rect">
            <a:avLst/>
          </a:prstGeom>
          <a:noFill/>
          <a:ln/>
        </p:spPr>
        <p:txBody>
          <a:bodyPr wrap="square" lIns="0" tIns="0" rIns="0" bIns="0" rtlCol="0" anchor="t"/>
          <a:lstStyle/>
          <a:p>
            <a:pPr indent="0" marL="0">
              <a:buNone/>
            </a:pPr>
            <a:r>
              <a:rPr lang="en-US" sz="1600" dirty="0">
                <a:solidFill>
                  <a:schemeClr val="tx1"/>
                </a:solidFill>
              </a:rPr>
              <a:t>Each site is a record with keys name, url, category and notes: readable and easy to update.</a:t>
            </a:r>
            <a:endParaRPr lang="en-US" sz="1600" dirty="0"/>
          </a:p>
        </p:txBody>
      </p:sp>
      <p:sp>
        <p:nvSpPr>
          <p:cNvPr id="15" name="Code chip 2"/>
          <p:cNvSpPr/>
          <p:nvPr/>
        </p:nvSpPr>
        <p:spPr>
          <a:xfrm>
            <a:off x="3648456" y="5532120"/>
            <a:ext cx="2057400" cy="411480"/>
          </a:xfrm>
          <a:prstGeom prst="roundRect">
            <a:avLst>
              <a:gd name="adj" fmla="val 17778"/>
            </a:avLst>
          </a:prstGeom>
          <a:solidFill>
            <a:schemeClr val="bg2"/>
          </a:solidFill>
          <a:ln w="12700">
            <a:solidFill>
              <a:schemeClr val="bg2"/>
            </a:solidFill>
            <a:prstDash val="solid"/>
          </a:ln>
        </p:spPr>
      </p:sp>
      <p:sp>
        <p:nvSpPr>
          <p:cNvPr id="16" name="Code chip text 2"/>
          <p:cNvSpPr txBox="1"/>
          <p:nvPr/>
        </p:nvSpPr>
        <p:spPr>
          <a:xfrm>
            <a:off x="3648456" y="5532120"/>
            <a:ext cx="2057400" cy="411480"/>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{"name": ...}</a:t>
            </a:r>
            <a:endParaRPr lang="en-US" sz="1200" dirty="0"/>
          </a:p>
        </p:txBody>
      </p:sp>
      <p:sp>
        <p:nvSpPr>
          <p:cNvPr id="17" name="Concept card 3"/>
          <p:cNvSpPr/>
          <p:nvPr/>
        </p:nvSpPr>
        <p:spPr>
          <a:xfrm>
            <a:off x="6199632" y="2194560"/>
            <a:ext cx="2606040" cy="3931920"/>
          </a:xfrm>
          <a:prstGeom prst="roundRect">
            <a:avLst>
              <a:gd name="adj" fmla="val 4211"/>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18" name="File Handling icon circle"/>
          <p:cNvSpPr/>
          <p:nvPr/>
        </p:nvSpPr>
        <p:spPr>
          <a:xfrm>
            <a:off x="6473952" y="2468880"/>
            <a:ext cx="731520" cy="731520"/>
          </a:xfrm>
          <a:prstGeom prst="ellipse">
            <a:avLst/>
          </a:prstGeom>
          <a:solidFill>
            <a:schemeClr val="accent1"/>
          </a:solidFill>
          <a:ln w="12700">
            <a:solidFill>
              <a:schemeClr val="accent1"/>
            </a:solidFill>
            <a:prstDash val="solid"/>
          </a:ln>
        </p:spPr>
      </p:sp>
      <p:pic>
        <p:nvPicPr>
          <p:cNvPr id="19" name="File Handling icon" descr="File Handling icon">    </p:cNvPr>
          <p:cNvPicPr>
            <a:picLocks noChangeAspect="1"/>
          </p:cNvPicPr>
          <p:nvPr/>
        </p:nvPicPr>
        <p:blipFill>
          <a:blip r:embed="rId3"/>
          <a:stretch>
            <a:fillRect/>
          </a:stretch>
        </p:blipFill>
        <p:spPr>
          <a:xfrm>
            <a:off x="6656832" y="2651760"/>
            <a:ext cx="365760" cy="365760"/>
          </a:xfrm>
          <a:prstGeom prst="rect">
            <a:avLst/>
          </a:prstGeom>
        </p:spPr>
      </p:pic>
      <p:sp>
        <p:nvSpPr>
          <p:cNvPr id="20" name="Concept title 3"/>
          <p:cNvSpPr txBox="1"/>
          <p:nvPr/>
        </p:nvSpPr>
        <p:spPr>
          <a:xfrm>
            <a:off x="6473952" y="3337560"/>
            <a:ext cx="2103120" cy="457200"/>
          </a:xfrm>
          <a:prstGeom prst="rect">
            <a:avLst/>
          </a:prstGeom>
          <a:noFill/>
          <a:ln/>
        </p:spPr>
        <p:txBody>
          <a:bodyPr wrap="square" lIns="0" tIns="0" rIns="0" bIns="0" rtlCol="0" anchor="ctr"/>
          <a:lstStyle/>
          <a:p>
            <a:pPr indent="0" marL="0">
              <a:buNone/>
            </a:pPr>
            <a:r>
              <a:rPr lang="en-US" sz="2200" b="1" dirty="0">
                <a:solidFill>
                  <a:schemeClr val="tx2"/>
                </a:solidFill>
                <a:latin typeface="+mj-lt" pitchFamily="34" charset="0"/>
                <a:ea typeface="+mj-lt" pitchFamily="34" charset="-122"/>
                <a:cs typeface="+mj-lt" pitchFamily="34" charset="-120"/>
              </a:rPr>
              <a:t>File Handling</a:t>
            </a:r>
            <a:endParaRPr lang="en-US" sz="2200" dirty="0"/>
          </a:p>
        </p:txBody>
      </p:sp>
      <p:sp>
        <p:nvSpPr>
          <p:cNvPr id="21" name="Concept text 3"/>
          <p:cNvSpPr txBox="1"/>
          <p:nvPr/>
        </p:nvSpPr>
        <p:spPr>
          <a:xfrm>
            <a:off x="6473952" y="3840480"/>
            <a:ext cx="2103120" cy="1600200"/>
          </a:xfrm>
          <a:prstGeom prst="rect">
            <a:avLst/>
          </a:prstGeom>
          <a:noFill/>
          <a:ln/>
        </p:spPr>
        <p:txBody>
          <a:bodyPr wrap="square" lIns="0" tIns="0" rIns="0" bIns="0" rtlCol="0" anchor="t"/>
          <a:lstStyle/>
          <a:p>
            <a:pPr indent="0" marL="0">
              <a:buNone/>
            </a:pPr>
            <a:r>
              <a:rPr lang="en-US" sz="1600" dirty="0">
                <a:solidFill>
                  <a:schemeClr val="tx1"/>
                </a:solidFill>
              </a:rPr>
              <a:t>open() with UTF-8 and the json module read and write websites.json, with error handling.</a:t>
            </a:r>
            <a:endParaRPr lang="en-US" sz="1600" dirty="0"/>
          </a:p>
        </p:txBody>
      </p:sp>
      <p:sp>
        <p:nvSpPr>
          <p:cNvPr id="22" name="Code chip 3"/>
          <p:cNvSpPr/>
          <p:nvPr/>
        </p:nvSpPr>
        <p:spPr>
          <a:xfrm>
            <a:off x="6473952" y="5532120"/>
            <a:ext cx="2057400" cy="411480"/>
          </a:xfrm>
          <a:prstGeom prst="roundRect">
            <a:avLst>
              <a:gd name="adj" fmla="val 17778"/>
            </a:avLst>
          </a:prstGeom>
          <a:solidFill>
            <a:schemeClr val="bg2"/>
          </a:solidFill>
          <a:ln w="12700">
            <a:solidFill>
              <a:schemeClr val="bg2"/>
            </a:solidFill>
            <a:prstDash val="solid"/>
          </a:ln>
        </p:spPr>
      </p:sp>
      <p:sp>
        <p:nvSpPr>
          <p:cNvPr id="23" name="Code chip text 3"/>
          <p:cNvSpPr txBox="1"/>
          <p:nvPr/>
        </p:nvSpPr>
        <p:spPr>
          <a:xfrm>
            <a:off x="6473952" y="5532120"/>
            <a:ext cx="2057400" cy="411480"/>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json.load / dump</a:t>
            </a:r>
            <a:endParaRPr lang="en-US" sz="1200" dirty="0"/>
          </a:p>
        </p:txBody>
      </p:sp>
      <p:sp>
        <p:nvSpPr>
          <p:cNvPr id="24" name="Concept card 4"/>
          <p:cNvSpPr/>
          <p:nvPr/>
        </p:nvSpPr>
        <p:spPr>
          <a:xfrm>
            <a:off x="9025128" y="2194560"/>
            <a:ext cx="2606040" cy="3931920"/>
          </a:xfrm>
          <a:prstGeom prst="roundRect">
            <a:avLst>
              <a:gd name="adj" fmla="val 4211"/>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25" name="Tkinter icon circle"/>
          <p:cNvSpPr/>
          <p:nvPr/>
        </p:nvSpPr>
        <p:spPr>
          <a:xfrm>
            <a:off x="9299448" y="2468880"/>
            <a:ext cx="731520" cy="731520"/>
          </a:xfrm>
          <a:prstGeom prst="ellipse">
            <a:avLst/>
          </a:prstGeom>
          <a:solidFill>
            <a:schemeClr val="accent2"/>
          </a:solidFill>
          <a:ln w="12700">
            <a:solidFill>
              <a:schemeClr val="accent2"/>
            </a:solidFill>
            <a:prstDash val="solid"/>
          </a:ln>
        </p:spPr>
      </p:sp>
      <p:pic>
        <p:nvPicPr>
          <p:cNvPr id="26" name="Tkinter icon" descr="Tkinter icon">    </p:cNvPr>
          <p:cNvPicPr>
            <a:picLocks noChangeAspect="1"/>
          </p:cNvPicPr>
          <p:nvPr/>
        </p:nvPicPr>
        <p:blipFill>
          <a:blip r:embed="rId4"/>
          <a:stretch>
            <a:fillRect/>
          </a:stretch>
        </p:blipFill>
        <p:spPr>
          <a:xfrm>
            <a:off x="9482328" y="2651760"/>
            <a:ext cx="365760" cy="365760"/>
          </a:xfrm>
          <a:prstGeom prst="rect">
            <a:avLst/>
          </a:prstGeom>
        </p:spPr>
      </p:pic>
      <p:sp>
        <p:nvSpPr>
          <p:cNvPr id="27" name="Concept title 4"/>
          <p:cNvSpPr txBox="1"/>
          <p:nvPr/>
        </p:nvSpPr>
        <p:spPr>
          <a:xfrm>
            <a:off x="9299448" y="3337560"/>
            <a:ext cx="2103120" cy="457200"/>
          </a:xfrm>
          <a:prstGeom prst="rect">
            <a:avLst/>
          </a:prstGeom>
          <a:noFill/>
          <a:ln/>
        </p:spPr>
        <p:txBody>
          <a:bodyPr wrap="square" lIns="0" tIns="0" rIns="0" bIns="0" rtlCol="0" anchor="ctr"/>
          <a:lstStyle/>
          <a:p>
            <a:pPr indent="0" marL="0">
              <a:buNone/>
            </a:pPr>
            <a:r>
              <a:rPr lang="en-US" sz="2200" b="1" dirty="0">
                <a:solidFill>
                  <a:schemeClr val="tx2"/>
                </a:solidFill>
                <a:latin typeface="+mj-lt" pitchFamily="34" charset="0"/>
                <a:ea typeface="+mj-lt" pitchFamily="34" charset="-122"/>
                <a:cs typeface="+mj-lt" pitchFamily="34" charset="-120"/>
              </a:rPr>
              <a:t>Tkinter</a:t>
            </a:r>
            <a:endParaRPr lang="en-US" sz="2200" dirty="0"/>
          </a:p>
        </p:txBody>
      </p:sp>
      <p:sp>
        <p:nvSpPr>
          <p:cNvPr id="28" name="Concept text 4"/>
          <p:cNvSpPr txBox="1"/>
          <p:nvPr/>
        </p:nvSpPr>
        <p:spPr>
          <a:xfrm>
            <a:off x="9299448" y="3840480"/>
            <a:ext cx="2103120" cy="1600200"/>
          </a:xfrm>
          <a:prstGeom prst="rect">
            <a:avLst/>
          </a:prstGeom>
          <a:noFill/>
          <a:ln/>
        </p:spPr>
        <p:txBody>
          <a:bodyPr wrap="square" lIns="0" tIns="0" rIns="0" bIns="0" rtlCol="0" anchor="t"/>
          <a:lstStyle/>
          <a:p>
            <a:pPr indent="0" marL="0">
              <a:buNone/>
            </a:pPr>
            <a:r>
              <a:rPr lang="en-US" sz="1600" dirty="0">
                <a:solidFill>
                  <a:schemeClr val="tx1"/>
                </a:solidFill>
              </a:rPr>
              <a:t>Window, entry fields, buttons and a Treeview table. Buttons call add, search, delete and refresh.</a:t>
            </a:r>
            <a:endParaRPr lang="en-US" sz="1600" dirty="0"/>
          </a:p>
        </p:txBody>
      </p:sp>
      <p:sp>
        <p:nvSpPr>
          <p:cNvPr id="29" name="Code chip 4"/>
          <p:cNvSpPr/>
          <p:nvPr/>
        </p:nvSpPr>
        <p:spPr>
          <a:xfrm>
            <a:off x="9299448" y="5532120"/>
            <a:ext cx="2057400" cy="411480"/>
          </a:xfrm>
          <a:prstGeom prst="roundRect">
            <a:avLst>
              <a:gd name="adj" fmla="val 17778"/>
            </a:avLst>
          </a:prstGeom>
          <a:solidFill>
            <a:schemeClr val="bg2"/>
          </a:solidFill>
          <a:ln w="12700">
            <a:solidFill>
              <a:schemeClr val="bg2"/>
            </a:solidFill>
            <a:prstDash val="solid"/>
          </a:ln>
        </p:spPr>
      </p:sp>
      <p:sp>
        <p:nvSpPr>
          <p:cNvPr id="30" name="Code chip text 4"/>
          <p:cNvSpPr txBox="1"/>
          <p:nvPr/>
        </p:nvSpPr>
        <p:spPr>
          <a:xfrm>
            <a:off x="9299448" y="5532120"/>
            <a:ext cx="2057400" cy="411480"/>
          </a:xfrm>
          <a:prstGeom prst="rect">
            <a:avLst/>
          </a:prstGeom>
          <a:noFill/>
          <a:ln/>
        </p:spPr>
        <p:txBody>
          <a:bodyPr wrap="square" lIns="0" tIns="0" rIns="0" bIns="0" rtlCol="0" anchor="ctr"/>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ttk.Treeview</a:t>
            </a:r>
            <a:endParaRPr lang="en-US" sz="12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6"/>
          <p:cNvSpPr/>
          <p:nvPr>
            <p:ph idx="108" type="title" hasCustomPrompt="1"/>
          </p:nvPr>
        </p:nvSpPr>
        <p:spPr>
          <a:xfrm>
            <a:off x="548640" y="137160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System Design &amp; Workflow</a:t>
            </a:r>
            <a:endParaRPr lang="en-US" sz="3400" dirty="0"/>
          </a:p>
        </p:txBody>
      </p:sp>
      <p:sp>
        <p:nvSpPr>
          <p:cNvPr id="3" name="Workflow label"/>
          <p:cNvSpPr txBox="1"/>
          <p:nvPr/>
        </p:nvSpPr>
        <p:spPr>
          <a:xfrm>
            <a:off x="548640" y="2103120"/>
            <a:ext cx="5486400" cy="365760"/>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Workflow</a:t>
            </a:r>
            <a:endParaRPr lang="en-US" sz="2000" dirty="0"/>
          </a:p>
        </p:txBody>
      </p:sp>
      <p:sp>
        <p:nvSpPr>
          <p:cNvPr id="4" name="Step card 1"/>
          <p:cNvSpPr/>
          <p:nvPr/>
        </p:nvSpPr>
        <p:spPr>
          <a:xfrm>
            <a:off x="548640" y="2560320"/>
            <a:ext cx="5852160" cy="612648"/>
          </a:xfrm>
          <a:prstGeom prst="roundRect">
            <a:avLst>
              <a:gd name="adj" fmla="val 1791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5" name="Step number circle 1"/>
          <p:cNvSpPr/>
          <p:nvPr/>
        </p:nvSpPr>
        <p:spPr>
          <a:xfrm>
            <a:off x="685800" y="2642616"/>
            <a:ext cx="457200" cy="457200"/>
          </a:xfrm>
          <a:prstGeom prst="ellipse">
            <a:avLst/>
          </a:prstGeom>
          <a:solidFill>
            <a:schemeClr val="accent1"/>
          </a:solidFill>
          <a:ln w="12700">
            <a:solidFill>
              <a:schemeClr val="bg1"/>
            </a:solidFill>
            <a:prstDash val="solid"/>
          </a:ln>
        </p:spPr>
      </p:sp>
      <p:sp>
        <p:nvSpPr>
          <p:cNvPr id="6" name="Step number 1"/>
          <p:cNvSpPr txBox="1"/>
          <p:nvPr/>
        </p:nvSpPr>
        <p:spPr>
          <a:xfrm>
            <a:off x="685800" y="264261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Step text 1"/>
          <p:cNvSpPr txBox="1"/>
          <p:nvPr/>
        </p:nvSpPr>
        <p:spPr>
          <a:xfrm>
            <a:off x="1280160" y="2587752"/>
            <a:ext cx="4983480" cy="557784"/>
          </a:xfrm>
          <a:prstGeom prst="rect">
            <a:avLst/>
          </a:prstGeom>
          <a:noFill/>
          <a:ln/>
        </p:spPr>
        <p:txBody>
          <a:bodyPr wrap="square" lIns="0" tIns="0" rIns="0" bIns="0" rtlCol="0" anchor="ctr"/>
          <a:lstStyle/>
          <a:p>
            <a:pPr indent="0" marL="0">
              <a:buNone/>
            </a:pPr>
            <a:r>
              <a:rPr lang="en-US" sz="1400" dirty="0">
                <a:solidFill>
                  <a:schemeClr val="tx1"/>
                </a:solidFill>
              </a:rPr>
              <a:t>Start the app and load saved records from websites.json</a:t>
            </a:r>
            <a:endParaRPr lang="en-US" sz="1400" dirty="0"/>
          </a:p>
        </p:txBody>
      </p:sp>
      <p:sp>
        <p:nvSpPr>
          <p:cNvPr id="8" name="Step card 2"/>
          <p:cNvSpPr/>
          <p:nvPr/>
        </p:nvSpPr>
        <p:spPr>
          <a:xfrm>
            <a:off x="548640" y="3264408"/>
            <a:ext cx="5852160" cy="612648"/>
          </a:xfrm>
          <a:prstGeom prst="roundRect">
            <a:avLst>
              <a:gd name="adj" fmla="val 1791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9" name="Step number circle 2"/>
          <p:cNvSpPr/>
          <p:nvPr/>
        </p:nvSpPr>
        <p:spPr>
          <a:xfrm>
            <a:off x="685800" y="3346704"/>
            <a:ext cx="457200" cy="457200"/>
          </a:xfrm>
          <a:prstGeom prst="ellipse">
            <a:avLst/>
          </a:prstGeom>
          <a:solidFill>
            <a:schemeClr val="accent2"/>
          </a:solidFill>
          <a:ln w="12700">
            <a:solidFill>
              <a:schemeClr val="bg1"/>
            </a:solidFill>
            <a:prstDash val="solid"/>
          </a:ln>
        </p:spPr>
      </p:sp>
      <p:sp>
        <p:nvSpPr>
          <p:cNvPr id="10" name="Step number 2"/>
          <p:cNvSpPr txBox="1"/>
          <p:nvPr/>
        </p:nvSpPr>
        <p:spPr>
          <a:xfrm>
            <a:off x="685800" y="33467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Step text 2"/>
          <p:cNvSpPr txBox="1"/>
          <p:nvPr/>
        </p:nvSpPr>
        <p:spPr>
          <a:xfrm>
            <a:off x="1280160" y="3291840"/>
            <a:ext cx="4983480" cy="557784"/>
          </a:xfrm>
          <a:prstGeom prst="rect">
            <a:avLst/>
          </a:prstGeom>
          <a:noFill/>
          <a:ln/>
        </p:spPr>
        <p:txBody>
          <a:bodyPr wrap="square" lIns="0" tIns="0" rIns="0" bIns="0" rtlCol="0" anchor="ctr"/>
          <a:lstStyle/>
          <a:p>
            <a:pPr indent="0" marL="0">
              <a:buNone/>
            </a:pPr>
            <a:r>
              <a:rPr lang="en-US" sz="1400" dirty="0">
                <a:solidFill>
                  <a:schemeClr val="tx1"/>
                </a:solidFill>
              </a:rPr>
              <a:t>Enter website details and click Add Website</a:t>
            </a:r>
            <a:endParaRPr lang="en-US" sz="1400" dirty="0"/>
          </a:p>
        </p:txBody>
      </p:sp>
      <p:sp>
        <p:nvSpPr>
          <p:cNvPr id="12" name="Step card 3"/>
          <p:cNvSpPr/>
          <p:nvPr/>
        </p:nvSpPr>
        <p:spPr>
          <a:xfrm>
            <a:off x="548640" y="3968496"/>
            <a:ext cx="5852160" cy="612648"/>
          </a:xfrm>
          <a:prstGeom prst="roundRect">
            <a:avLst>
              <a:gd name="adj" fmla="val 1791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13" name="Step number circle 3"/>
          <p:cNvSpPr/>
          <p:nvPr/>
        </p:nvSpPr>
        <p:spPr>
          <a:xfrm>
            <a:off x="685800" y="4050792"/>
            <a:ext cx="457200" cy="457200"/>
          </a:xfrm>
          <a:prstGeom prst="ellipse">
            <a:avLst/>
          </a:prstGeom>
          <a:solidFill>
            <a:schemeClr val="accent1"/>
          </a:solidFill>
          <a:ln w="12700">
            <a:solidFill>
              <a:schemeClr val="bg1"/>
            </a:solidFill>
            <a:prstDash val="solid"/>
          </a:ln>
        </p:spPr>
      </p:sp>
      <p:sp>
        <p:nvSpPr>
          <p:cNvPr id="14" name="Step number 3"/>
          <p:cNvSpPr txBox="1"/>
          <p:nvPr/>
        </p:nvSpPr>
        <p:spPr>
          <a:xfrm>
            <a:off x="685800" y="40507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Step text 3"/>
          <p:cNvSpPr txBox="1"/>
          <p:nvPr/>
        </p:nvSpPr>
        <p:spPr>
          <a:xfrm>
            <a:off x="1280160" y="3995928"/>
            <a:ext cx="4983480" cy="557784"/>
          </a:xfrm>
          <a:prstGeom prst="rect">
            <a:avLst/>
          </a:prstGeom>
          <a:noFill/>
          <a:ln/>
        </p:spPr>
        <p:txBody>
          <a:bodyPr wrap="square" lIns="0" tIns="0" rIns="0" bIns="0" rtlCol="0" anchor="ctr"/>
          <a:lstStyle/>
          <a:p>
            <a:pPr indent="0" marL="0">
              <a:buNone/>
            </a:pPr>
            <a:r>
              <a:rPr lang="en-US" sz="1400" dirty="0">
                <a:solidFill>
                  <a:schemeClr val="tx1"/>
                </a:solidFill>
              </a:rPr>
              <a:t>Validate fields, build a Dictionary, append it to the List and save</a:t>
            </a:r>
            <a:endParaRPr lang="en-US" sz="1400" dirty="0"/>
          </a:p>
        </p:txBody>
      </p:sp>
      <p:sp>
        <p:nvSpPr>
          <p:cNvPr id="16" name="Step card 4"/>
          <p:cNvSpPr/>
          <p:nvPr/>
        </p:nvSpPr>
        <p:spPr>
          <a:xfrm>
            <a:off x="548640" y="4672584"/>
            <a:ext cx="5852160" cy="612648"/>
          </a:xfrm>
          <a:prstGeom prst="roundRect">
            <a:avLst>
              <a:gd name="adj" fmla="val 1791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17" name="Step number circle 4"/>
          <p:cNvSpPr/>
          <p:nvPr/>
        </p:nvSpPr>
        <p:spPr>
          <a:xfrm>
            <a:off x="685800" y="4754880"/>
            <a:ext cx="457200" cy="457200"/>
          </a:xfrm>
          <a:prstGeom prst="ellipse">
            <a:avLst/>
          </a:prstGeom>
          <a:solidFill>
            <a:schemeClr val="accent2"/>
          </a:solidFill>
          <a:ln w="12700">
            <a:solidFill>
              <a:schemeClr val="bg1"/>
            </a:solidFill>
            <a:prstDash val="solid"/>
          </a:ln>
        </p:spPr>
      </p:sp>
      <p:sp>
        <p:nvSpPr>
          <p:cNvPr id="18" name="Step number 4"/>
          <p:cNvSpPr txBox="1"/>
          <p:nvPr/>
        </p:nvSpPr>
        <p:spPr>
          <a:xfrm>
            <a:off x="685800" y="4754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Step text 4"/>
          <p:cNvSpPr txBox="1"/>
          <p:nvPr/>
        </p:nvSpPr>
        <p:spPr>
          <a:xfrm>
            <a:off x="1280160" y="4700016"/>
            <a:ext cx="4983480" cy="557784"/>
          </a:xfrm>
          <a:prstGeom prst="rect">
            <a:avLst/>
          </a:prstGeom>
          <a:noFill/>
          <a:ln/>
        </p:spPr>
        <p:txBody>
          <a:bodyPr wrap="square" lIns="0" tIns="0" rIns="0" bIns="0" rtlCol="0" anchor="ctr"/>
          <a:lstStyle/>
          <a:p>
            <a:pPr indent="0" marL="0">
              <a:buNone/>
            </a:pPr>
            <a:r>
              <a:rPr lang="en-US" sz="1400" dirty="0">
                <a:solidFill>
                  <a:schemeClr val="tx1"/>
                </a:solidFill>
              </a:rPr>
              <a:t>Search by name, URL, category or notes</a:t>
            </a:r>
            <a:endParaRPr lang="en-US" sz="1400" dirty="0"/>
          </a:p>
        </p:txBody>
      </p:sp>
      <p:sp>
        <p:nvSpPr>
          <p:cNvPr id="20" name="Step card 5"/>
          <p:cNvSpPr/>
          <p:nvPr/>
        </p:nvSpPr>
        <p:spPr>
          <a:xfrm>
            <a:off x="548640" y="5376672"/>
            <a:ext cx="5852160" cy="612648"/>
          </a:xfrm>
          <a:prstGeom prst="roundRect">
            <a:avLst>
              <a:gd name="adj" fmla="val 1791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21" name="Step number circle 5"/>
          <p:cNvSpPr/>
          <p:nvPr/>
        </p:nvSpPr>
        <p:spPr>
          <a:xfrm>
            <a:off x="685800" y="5458968"/>
            <a:ext cx="457200" cy="457200"/>
          </a:xfrm>
          <a:prstGeom prst="ellipse">
            <a:avLst/>
          </a:prstGeom>
          <a:solidFill>
            <a:schemeClr val="accent1"/>
          </a:solidFill>
          <a:ln w="12700">
            <a:solidFill>
              <a:schemeClr val="bg1"/>
            </a:solidFill>
            <a:prstDash val="solid"/>
          </a:ln>
        </p:spPr>
      </p:sp>
      <p:sp>
        <p:nvSpPr>
          <p:cNvPr id="22" name="Step number 5"/>
          <p:cNvSpPr txBox="1"/>
          <p:nvPr/>
        </p:nvSpPr>
        <p:spPr>
          <a:xfrm>
            <a:off x="685800" y="54589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Step text 5"/>
          <p:cNvSpPr txBox="1"/>
          <p:nvPr/>
        </p:nvSpPr>
        <p:spPr>
          <a:xfrm>
            <a:off x="1280160" y="5404104"/>
            <a:ext cx="4983480" cy="557784"/>
          </a:xfrm>
          <a:prstGeom prst="rect">
            <a:avLst/>
          </a:prstGeom>
          <a:noFill/>
          <a:ln/>
        </p:spPr>
        <p:txBody>
          <a:bodyPr wrap="square" lIns="0" tIns="0" rIns="0" bIns="0" rtlCol="0" anchor="ctr"/>
          <a:lstStyle/>
          <a:p>
            <a:pPr indent="0" marL="0">
              <a:buNone/>
            </a:pPr>
            <a:r>
              <a:rPr lang="en-US" sz="1400" dirty="0">
                <a:solidFill>
                  <a:schemeClr val="tx1"/>
                </a:solidFill>
              </a:rPr>
              <a:t>Select a row, confirm deletion, and the table refreshes</a:t>
            </a:r>
            <a:endParaRPr lang="en-US" sz="1400" dirty="0"/>
          </a:p>
        </p:txBody>
      </p:sp>
      <p:sp>
        <p:nvSpPr>
          <p:cNvPr id="24" name="Modules label"/>
          <p:cNvSpPr txBox="1"/>
          <p:nvPr/>
        </p:nvSpPr>
        <p:spPr>
          <a:xfrm>
            <a:off x="6720840" y="2103120"/>
            <a:ext cx="4937760" cy="365760"/>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Main Modules</a:t>
            </a:r>
            <a:endParaRPr lang="en-US" sz="2000" dirty="0"/>
          </a:p>
        </p:txBody>
      </p:sp>
      <p:sp>
        <p:nvSpPr>
          <p:cNvPr id="25" name="Module card 1"/>
          <p:cNvSpPr/>
          <p:nvPr/>
        </p:nvSpPr>
        <p:spPr>
          <a:xfrm>
            <a:off x="6720840" y="2560320"/>
            <a:ext cx="2404872" cy="1143000"/>
          </a:xfrm>
          <a:prstGeom prst="roundRect">
            <a:avLst>
              <a:gd name="adj" fmla="val 960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26" name="Module name 1"/>
          <p:cNvSpPr txBox="1"/>
          <p:nvPr/>
        </p:nvSpPr>
        <p:spPr>
          <a:xfrm>
            <a:off x="6903720" y="2670048"/>
            <a:ext cx="2057400" cy="347472"/>
          </a:xfrm>
          <a:prstGeom prst="rect">
            <a:avLst/>
          </a:prstGeom>
          <a:noFill/>
          <a:ln/>
        </p:spPr>
        <p:txBody>
          <a:bodyPr wrap="square" lIns="0" tIns="0" rIns="0" bIns="0" rtlCol="0" anchor="ctr"/>
          <a:lstStyle/>
          <a:p>
            <a:pPr indent="0" marL="0">
              <a:buNone/>
            </a:pPr>
            <a:r>
              <a:rPr lang="en-US" sz="1800" b="1" dirty="0">
                <a:solidFill>
                  <a:schemeClr val="tx2"/>
                </a:solidFill>
              </a:rPr>
              <a:t>Input</a:t>
            </a:r>
            <a:endParaRPr lang="en-US" sz="1800" dirty="0"/>
          </a:p>
        </p:txBody>
      </p:sp>
      <p:sp>
        <p:nvSpPr>
          <p:cNvPr id="27" name="Module text 1"/>
          <p:cNvSpPr txBox="1"/>
          <p:nvPr/>
        </p:nvSpPr>
        <p:spPr>
          <a:xfrm>
            <a:off x="6903720" y="3035808"/>
            <a:ext cx="2057400" cy="594360"/>
          </a:xfrm>
          <a:prstGeom prst="rect">
            <a:avLst/>
          </a:prstGeom>
          <a:noFill/>
          <a:ln/>
        </p:spPr>
        <p:txBody>
          <a:bodyPr wrap="square" lIns="0" tIns="0" rIns="0" bIns="0" rtlCol="0" anchor="t"/>
          <a:lstStyle/>
          <a:p>
            <a:pPr indent="0" marL="0">
              <a:buNone/>
            </a:pPr>
            <a:r>
              <a:rPr lang="en-US" sz="1400" dirty="0">
                <a:solidFill>
                  <a:schemeClr val="tx1"/>
                </a:solidFill>
              </a:rPr>
              <a:t>Accepts website details</a:t>
            </a:r>
            <a:endParaRPr lang="en-US" sz="1400" dirty="0"/>
          </a:p>
        </p:txBody>
      </p:sp>
      <p:sp>
        <p:nvSpPr>
          <p:cNvPr id="28" name="Module card 2"/>
          <p:cNvSpPr/>
          <p:nvPr/>
        </p:nvSpPr>
        <p:spPr>
          <a:xfrm>
            <a:off x="9253728" y="2560320"/>
            <a:ext cx="2404872" cy="1143000"/>
          </a:xfrm>
          <a:prstGeom prst="roundRect">
            <a:avLst>
              <a:gd name="adj" fmla="val 960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29" name="Module name 2"/>
          <p:cNvSpPr txBox="1"/>
          <p:nvPr/>
        </p:nvSpPr>
        <p:spPr>
          <a:xfrm>
            <a:off x="9436608" y="2670048"/>
            <a:ext cx="2057400" cy="347472"/>
          </a:xfrm>
          <a:prstGeom prst="rect">
            <a:avLst/>
          </a:prstGeom>
          <a:noFill/>
          <a:ln/>
        </p:spPr>
        <p:txBody>
          <a:bodyPr wrap="square" lIns="0" tIns="0" rIns="0" bIns="0" rtlCol="0" anchor="ctr"/>
          <a:lstStyle/>
          <a:p>
            <a:pPr indent="0" marL="0">
              <a:buNone/>
            </a:pPr>
            <a:r>
              <a:rPr lang="en-US" sz="1800" b="1" dirty="0">
                <a:solidFill>
                  <a:schemeClr val="tx2"/>
                </a:solidFill>
              </a:rPr>
              <a:t>Record</a:t>
            </a:r>
            <a:endParaRPr lang="en-US" sz="1800" dirty="0"/>
          </a:p>
        </p:txBody>
      </p:sp>
      <p:sp>
        <p:nvSpPr>
          <p:cNvPr id="30" name="Module text 2"/>
          <p:cNvSpPr txBox="1"/>
          <p:nvPr/>
        </p:nvSpPr>
        <p:spPr>
          <a:xfrm>
            <a:off x="9436608" y="3035808"/>
            <a:ext cx="2057400" cy="594360"/>
          </a:xfrm>
          <a:prstGeom prst="rect">
            <a:avLst/>
          </a:prstGeom>
          <a:noFill/>
          <a:ln/>
        </p:spPr>
        <p:txBody>
          <a:bodyPr wrap="square" lIns="0" tIns="0" rIns="0" bIns="0" rtlCol="0" anchor="t"/>
          <a:lstStyle/>
          <a:p>
            <a:pPr indent="0" marL="0">
              <a:buNone/>
            </a:pPr>
            <a:r>
              <a:rPr lang="en-US" sz="1400" dirty="0">
                <a:solidFill>
                  <a:schemeClr val="tx1"/>
                </a:solidFill>
              </a:rPr>
              <a:t>Dictionaries stored in a List</a:t>
            </a:r>
            <a:endParaRPr lang="en-US" sz="1400" dirty="0"/>
          </a:p>
        </p:txBody>
      </p:sp>
      <p:sp>
        <p:nvSpPr>
          <p:cNvPr id="31" name="Module card 3"/>
          <p:cNvSpPr/>
          <p:nvPr/>
        </p:nvSpPr>
        <p:spPr>
          <a:xfrm>
            <a:off x="6720840" y="3813048"/>
            <a:ext cx="2404872" cy="1143000"/>
          </a:xfrm>
          <a:prstGeom prst="roundRect">
            <a:avLst>
              <a:gd name="adj" fmla="val 960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32" name="Module name 3"/>
          <p:cNvSpPr txBox="1"/>
          <p:nvPr/>
        </p:nvSpPr>
        <p:spPr>
          <a:xfrm>
            <a:off x="6903720" y="3922776"/>
            <a:ext cx="2057400" cy="347472"/>
          </a:xfrm>
          <a:prstGeom prst="rect">
            <a:avLst/>
          </a:prstGeom>
          <a:noFill/>
          <a:ln/>
        </p:spPr>
        <p:txBody>
          <a:bodyPr wrap="square" lIns="0" tIns="0" rIns="0" bIns="0" rtlCol="0" anchor="ctr"/>
          <a:lstStyle/>
          <a:p>
            <a:pPr indent="0" marL="0">
              <a:buNone/>
            </a:pPr>
            <a:r>
              <a:rPr lang="en-US" sz="1800" b="1" dirty="0">
                <a:solidFill>
                  <a:schemeClr val="tx2"/>
                </a:solidFill>
              </a:rPr>
              <a:t>Storage</a:t>
            </a:r>
            <a:endParaRPr lang="en-US" sz="1800" dirty="0"/>
          </a:p>
        </p:txBody>
      </p:sp>
      <p:sp>
        <p:nvSpPr>
          <p:cNvPr id="33" name="Module text 3"/>
          <p:cNvSpPr txBox="1"/>
          <p:nvPr/>
        </p:nvSpPr>
        <p:spPr>
          <a:xfrm>
            <a:off x="6903720" y="4288536"/>
            <a:ext cx="2057400" cy="594360"/>
          </a:xfrm>
          <a:prstGeom prst="rect">
            <a:avLst/>
          </a:prstGeom>
          <a:noFill/>
          <a:ln/>
        </p:spPr>
        <p:txBody>
          <a:bodyPr wrap="square" lIns="0" tIns="0" rIns="0" bIns="0" rtlCol="0" anchor="t"/>
          <a:lstStyle/>
          <a:p>
            <a:pPr indent="0" marL="0">
              <a:buNone/>
            </a:pPr>
            <a:r>
              <a:rPr lang="en-US" sz="1400" dirty="0">
                <a:solidFill>
                  <a:schemeClr val="tx1"/>
                </a:solidFill>
              </a:rPr>
              <a:t>Loads and saves websites.json</a:t>
            </a:r>
            <a:endParaRPr lang="en-US" sz="1400" dirty="0"/>
          </a:p>
        </p:txBody>
      </p:sp>
      <p:sp>
        <p:nvSpPr>
          <p:cNvPr id="34" name="Module card 4"/>
          <p:cNvSpPr/>
          <p:nvPr/>
        </p:nvSpPr>
        <p:spPr>
          <a:xfrm>
            <a:off x="9253728" y="3813048"/>
            <a:ext cx="2404872" cy="1143000"/>
          </a:xfrm>
          <a:prstGeom prst="roundRect">
            <a:avLst>
              <a:gd name="adj" fmla="val 960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35" name="Module name 4"/>
          <p:cNvSpPr txBox="1"/>
          <p:nvPr/>
        </p:nvSpPr>
        <p:spPr>
          <a:xfrm>
            <a:off x="9436608" y="3922776"/>
            <a:ext cx="2057400" cy="347472"/>
          </a:xfrm>
          <a:prstGeom prst="rect">
            <a:avLst/>
          </a:prstGeom>
          <a:noFill/>
          <a:ln/>
        </p:spPr>
        <p:txBody>
          <a:bodyPr wrap="square" lIns="0" tIns="0" rIns="0" bIns="0" rtlCol="0" anchor="ctr"/>
          <a:lstStyle/>
          <a:p>
            <a:pPr indent="0" marL="0">
              <a:buNone/>
            </a:pPr>
            <a:r>
              <a:rPr lang="en-US" sz="1800" b="1" dirty="0">
                <a:solidFill>
                  <a:schemeClr val="tx2"/>
                </a:solidFill>
              </a:rPr>
              <a:t>Search</a:t>
            </a:r>
            <a:endParaRPr lang="en-US" sz="1800" dirty="0"/>
          </a:p>
        </p:txBody>
      </p:sp>
      <p:sp>
        <p:nvSpPr>
          <p:cNvPr id="36" name="Module text 4"/>
          <p:cNvSpPr txBox="1"/>
          <p:nvPr/>
        </p:nvSpPr>
        <p:spPr>
          <a:xfrm>
            <a:off x="9436608" y="4288536"/>
            <a:ext cx="2057400" cy="594360"/>
          </a:xfrm>
          <a:prstGeom prst="rect">
            <a:avLst/>
          </a:prstGeom>
          <a:noFill/>
          <a:ln/>
        </p:spPr>
        <p:txBody>
          <a:bodyPr wrap="square" lIns="0" tIns="0" rIns="0" bIns="0" rtlCol="0" anchor="t"/>
          <a:lstStyle/>
          <a:p>
            <a:pPr indent="0" marL="0">
              <a:buNone/>
            </a:pPr>
            <a:r>
              <a:rPr lang="en-US" sz="1400" dirty="0">
                <a:solidFill>
                  <a:schemeClr val="tx1"/>
                </a:solidFill>
              </a:rPr>
              <a:t>Filters records by text</a:t>
            </a:r>
            <a:endParaRPr lang="en-US" sz="1400" dirty="0"/>
          </a:p>
        </p:txBody>
      </p:sp>
      <p:sp>
        <p:nvSpPr>
          <p:cNvPr id="37" name="Module card 5"/>
          <p:cNvSpPr/>
          <p:nvPr/>
        </p:nvSpPr>
        <p:spPr>
          <a:xfrm>
            <a:off x="6720840" y="5065776"/>
            <a:ext cx="2404872" cy="1143000"/>
          </a:xfrm>
          <a:prstGeom prst="roundRect">
            <a:avLst>
              <a:gd name="adj" fmla="val 960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38" name="Module name 5"/>
          <p:cNvSpPr txBox="1"/>
          <p:nvPr/>
        </p:nvSpPr>
        <p:spPr>
          <a:xfrm>
            <a:off x="6903720" y="5175504"/>
            <a:ext cx="2057400" cy="347472"/>
          </a:xfrm>
          <a:prstGeom prst="rect">
            <a:avLst/>
          </a:prstGeom>
          <a:noFill/>
          <a:ln/>
        </p:spPr>
        <p:txBody>
          <a:bodyPr wrap="square" lIns="0" tIns="0" rIns="0" bIns="0" rtlCol="0" anchor="ctr"/>
          <a:lstStyle/>
          <a:p>
            <a:pPr indent="0" marL="0">
              <a:buNone/>
            </a:pPr>
            <a:r>
              <a:rPr lang="en-US" sz="1800" b="1" dirty="0">
                <a:solidFill>
                  <a:schemeClr val="tx2"/>
                </a:solidFill>
              </a:rPr>
              <a:t>Display</a:t>
            </a:r>
            <a:endParaRPr lang="en-US" sz="1800" dirty="0"/>
          </a:p>
        </p:txBody>
      </p:sp>
      <p:sp>
        <p:nvSpPr>
          <p:cNvPr id="39" name="Module text 5"/>
          <p:cNvSpPr txBox="1"/>
          <p:nvPr/>
        </p:nvSpPr>
        <p:spPr>
          <a:xfrm>
            <a:off x="6903720" y="5541264"/>
            <a:ext cx="2057400" cy="594360"/>
          </a:xfrm>
          <a:prstGeom prst="rect">
            <a:avLst/>
          </a:prstGeom>
          <a:noFill/>
          <a:ln/>
        </p:spPr>
        <p:txBody>
          <a:bodyPr wrap="square" lIns="0" tIns="0" rIns="0" bIns="0" rtlCol="0" anchor="t"/>
          <a:lstStyle/>
          <a:p>
            <a:pPr indent="0" marL="0">
              <a:buNone/>
            </a:pPr>
            <a:r>
              <a:rPr lang="en-US" sz="1400" dirty="0">
                <a:solidFill>
                  <a:schemeClr val="tx1"/>
                </a:solidFill>
              </a:rPr>
              <a:t>Refreshes the Treeview table</a:t>
            </a:r>
            <a:endParaRPr lang="en-US" sz="1400" dirty="0"/>
          </a:p>
        </p:txBody>
      </p:sp>
      <p:sp>
        <p:nvSpPr>
          <p:cNvPr id="40" name="Module card 6"/>
          <p:cNvSpPr/>
          <p:nvPr/>
        </p:nvSpPr>
        <p:spPr>
          <a:xfrm>
            <a:off x="9253728" y="5065776"/>
            <a:ext cx="2404872" cy="1143000"/>
          </a:xfrm>
          <a:prstGeom prst="roundRect">
            <a:avLst>
              <a:gd name="adj" fmla="val 960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41" name="Module name 6"/>
          <p:cNvSpPr txBox="1"/>
          <p:nvPr/>
        </p:nvSpPr>
        <p:spPr>
          <a:xfrm>
            <a:off x="9436608" y="5175504"/>
            <a:ext cx="2057400" cy="347472"/>
          </a:xfrm>
          <a:prstGeom prst="rect">
            <a:avLst/>
          </a:prstGeom>
          <a:noFill/>
          <a:ln/>
        </p:spPr>
        <p:txBody>
          <a:bodyPr wrap="square" lIns="0" tIns="0" rIns="0" bIns="0" rtlCol="0" anchor="ctr"/>
          <a:lstStyle/>
          <a:p>
            <a:pPr indent="0" marL="0">
              <a:buNone/>
            </a:pPr>
            <a:r>
              <a:rPr lang="en-US" sz="1800" b="1" dirty="0">
                <a:solidFill>
                  <a:schemeClr val="tx2"/>
                </a:solidFill>
              </a:rPr>
              <a:t>Delete</a:t>
            </a:r>
            <a:endParaRPr lang="en-US" sz="1800" dirty="0"/>
          </a:p>
        </p:txBody>
      </p:sp>
      <p:sp>
        <p:nvSpPr>
          <p:cNvPr id="42" name="Module text 6"/>
          <p:cNvSpPr txBox="1"/>
          <p:nvPr/>
        </p:nvSpPr>
        <p:spPr>
          <a:xfrm>
            <a:off x="9436608" y="5541264"/>
            <a:ext cx="2057400" cy="594360"/>
          </a:xfrm>
          <a:prstGeom prst="rect">
            <a:avLst/>
          </a:prstGeom>
          <a:noFill/>
          <a:ln/>
        </p:spPr>
        <p:txBody>
          <a:bodyPr wrap="square" lIns="0" tIns="0" rIns="0" bIns="0" rtlCol="0" anchor="t"/>
          <a:lstStyle/>
          <a:p>
            <a:pPr indent="0" marL="0">
              <a:buNone/>
            </a:pPr>
            <a:r>
              <a:rPr lang="en-US" sz="1400" dirty="0">
                <a:solidFill>
                  <a:schemeClr val="tx1"/>
                </a:solidFill>
              </a:rPr>
              <a:t>Removes the selected record and saves</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8" type="title" hasCustomPrompt="1"/>
          </p:nvPr>
        </p:nvSpPr>
        <p:spPr>
          <a:xfrm>
            <a:off x="548640" y="137160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Testing &amp; Sample Output</a:t>
            </a:r>
            <a:endParaRPr lang="en-US" sz="3400" dirty="0"/>
          </a:p>
        </p:txBody>
      </p:sp>
      <p:graphicFrame>
        <p:nvGraphicFramePr>
          <p:cNvPr id="6" name="Test cases table"/>
          <p:cNvGraphicFramePr>
            <a:graphicFrameLocks noGrp="1"/>
          </p:cNvGraphicFramePr>
          <p:nvPr>
            <p:extLst>
              <p:ext uri="{D42A27DB-BD31-4B8C-83A1-F6EECF244321}">
                <p14:modId xmlns:p14="http://schemas.microsoft.com/office/powerpoint/2010/main" val="1579011935"/>
              </p:ext>
            </p:extLst>
          </p:nvPr>
        </p:nvGraphicFramePr>
        <p:xfrm>
          <a:off x="548640" y="2194560"/>
          <a:ext cx="7589520" cy="914400"/>
        </p:xfrm>
        <a:graphic>
          <a:graphicData uri="http://schemas.openxmlformats.org/drawingml/2006/table">
            <a:tbl>
              <a:tblPr/>
              <a:tblGrid>
                <a:gridCol w="1554480"/>
                <a:gridCol w="3017520"/>
                <a:gridCol w="3017520"/>
              </a:tblGrid>
              <a:tr h="548640">
                <a:tc>
                  <a:txBody>
                    <a:bodyPr/>
                    <a:lstStyle/>
                    <a:p>
                      <a:pPr indent="0" marL="0">
                        <a:buNone/>
                      </a:pPr>
                      <a:r>
                        <a:rPr lang="en-US" sz="1400" b="1" dirty="0">
                          <a:solidFill>
                            <a:schemeClr val="bg1"/>
                          </a:solidFill>
                        </a:rPr>
                        <a:t>Test Case</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Action</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Expected Result</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accent1"/>
                    </a:solidFill>
                  </a:tcPr>
                </a:tc>
              </a:tr>
              <a:tr h="548640">
                <a:tc>
                  <a:txBody>
                    <a:bodyPr/>
                    <a:lstStyle/>
                    <a:p>
                      <a:pPr indent="0" marL="0">
                        <a:buNone/>
                      </a:pPr>
                      <a:r>
                        <a:rPr lang="en-US" sz="1400" b="1" dirty="0">
                          <a:solidFill>
                            <a:schemeClr val="tx2"/>
                          </a:solidFill>
                        </a:rPr>
                        <a:t>Add record</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Enter name and URL; click Add</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Record appears and is saved</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2"/>
                          </a:solidFill>
                        </a:rPr>
                        <a:t>Missing input</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Leave name or URL blank</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Warning message is shown</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2"/>
                          </a:solidFill>
                        </a:rPr>
                        <a:t>Search</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Type part of a name or category</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Matching records are shown</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2"/>
                          </a:solidFill>
                        </a:rPr>
                        <a:t>Delete</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Select a row and confirm</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Selected record is removed</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2"/>
                          </a:solidFill>
                        </a:rPr>
                        <a:t>Persistence</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Close and reopen the app</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Saved records load again</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2"/>
                          </a:solidFill>
                        </a:rPr>
                        <a:t>Clear search</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Remove the search text</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All records are displayed</a:t>
                      </a:r>
                      <a:endParaRPr lang="en-US" sz="1400" dirty="0"/>
                    </a:p>
                  </a:txBody>
                  <a:tcPr marL="109728" marR="109728" marT="0" marB="0" anchor="ctr">
                    <a:lnL w="9525" cap="flat" cmpd="sng" algn="ctr">
                      <a:solidFill>
                        <a:srgbClr val="D3DDEC"/>
                      </a:solidFill>
                      <a:prstDash val="solid"/>
                      <a:round/>
                      <a:headEnd type="none" w="med" len="med"/>
                      <a:tailEnd type="none" w="med" len="med"/>
                    </a:lnL>
                    <a:lnR w="9525" cap="flat" cmpd="sng" algn="ctr">
                      <a:solidFill>
                        <a:srgbClr val="D3DDEC"/>
                      </a:solidFill>
                      <a:prstDash val="solid"/>
                      <a:round/>
                      <a:headEnd type="none" w="med" len="med"/>
                      <a:tailEnd type="none" w="med" len="med"/>
                    </a:lnR>
                    <a:lnT w="9525" cap="flat" cmpd="sng" algn="ctr">
                      <a:solidFill>
                        <a:srgbClr val="D3DDEC"/>
                      </a:solidFill>
                      <a:prstDash val="solid"/>
                      <a:round/>
                      <a:headEnd type="none" w="med" len="med"/>
                      <a:tailEnd type="none" w="med" len="med"/>
                    </a:lnT>
                    <a:lnB w="9525" cap="flat" cmpd="sng" algn="ctr">
                      <a:solidFill>
                        <a:srgbClr val="D3DDEC"/>
                      </a:solidFill>
                      <a:prstDash val="solid"/>
                      <a:round/>
                      <a:headEnd type="none" w="med" len="med"/>
                      <a:tailEnd type="none" w="med" len="med"/>
                    </a:lnB>
                    <a:solidFill>
                      <a:schemeClr val="bg1"/>
                    </a:solidFill>
                  </a:tcPr>
                </a:tc>
              </a:tr>
            </a:tbl>
          </a:graphicData>
        </a:graphic>
      </p:graphicFrame>
      <p:sp>
        <p:nvSpPr>
          <p:cNvPr id="4" name="Sample record card"/>
          <p:cNvSpPr/>
          <p:nvPr/>
        </p:nvSpPr>
        <p:spPr>
          <a:xfrm>
            <a:off x="8412480" y="2194560"/>
            <a:ext cx="3227832" cy="3840480"/>
          </a:xfrm>
          <a:prstGeom prst="roundRect">
            <a:avLst>
              <a:gd name="adj" fmla="val 3399"/>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5" name="Clipboard icon circle"/>
          <p:cNvSpPr/>
          <p:nvPr/>
        </p:nvSpPr>
        <p:spPr>
          <a:xfrm>
            <a:off x="8641080" y="2395728"/>
            <a:ext cx="502920" cy="502920"/>
          </a:xfrm>
          <a:prstGeom prst="ellipse">
            <a:avLst/>
          </a:prstGeom>
          <a:solidFill>
            <a:schemeClr val="accent1"/>
          </a:solidFill>
          <a:ln w="12700">
            <a:solidFill>
              <a:schemeClr val="accent1"/>
            </a:solidFill>
            <a:prstDash val="solid"/>
          </a:ln>
        </p:spPr>
      </p:sp>
      <p:pic>
        <p:nvPicPr>
          <p:cNvPr id="6" name="Clipboard icon" descr="Clipboard icon">    </p:cNvPr>
          <p:cNvPicPr>
            <a:picLocks noChangeAspect="1"/>
          </p:cNvPicPr>
          <p:nvPr/>
        </p:nvPicPr>
        <p:blipFill>
          <a:blip r:embed="rId1"/>
          <a:stretch>
            <a:fillRect/>
          </a:stretch>
        </p:blipFill>
        <p:spPr>
          <a:xfrm>
            <a:off x="8766810" y="2521458"/>
            <a:ext cx="251460" cy="251460"/>
          </a:xfrm>
          <a:prstGeom prst="rect">
            <a:avLst/>
          </a:prstGeom>
        </p:spPr>
      </p:pic>
      <p:sp>
        <p:nvSpPr>
          <p:cNvPr id="7" name="Sample record heading"/>
          <p:cNvSpPr txBox="1"/>
          <p:nvPr/>
        </p:nvSpPr>
        <p:spPr>
          <a:xfrm>
            <a:off x="9281160" y="2395728"/>
            <a:ext cx="2240280" cy="502920"/>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Sample Record</a:t>
            </a:r>
            <a:endParaRPr lang="en-US" sz="2000" dirty="0"/>
          </a:p>
        </p:txBody>
      </p:sp>
      <p:sp>
        <p:nvSpPr>
          <p:cNvPr id="8" name="Record label 1"/>
          <p:cNvSpPr txBox="1"/>
          <p:nvPr/>
        </p:nvSpPr>
        <p:spPr>
          <a:xfrm>
            <a:off x="8641080" y="3108960"/>
            <a:ext cx="2788920" cy="228600"/>
          </a:xfrm>
          <a:prstGeom prst="rect">
            <a:avLst/>
          </a:prstGeom>
          <a:noFill/>
          <a:ln/>
        </p:spPr>
        <p:txBody>
          <a:bodyPr wrap="square" lIns="0" tIns="0" rIns="0" bIns="0" rtlCol="0" anchor="ctr"/>
          <a:lstStyle/>
          <a:p>
            <a:pPr indent="0" marL="0">
              <a:buNone/>
            </a:pPr>
            <a:r>
              <a:rPr lang="en-US" sz="1200" b="1" dirty="0">
                <a:solidFill>
                  <a:schemeClr val="accent2"/>
                </a:solidFill>
              </a:rPr>
              <a:t>WEBSITE NAME</a:t>
            </a:r>
            <a:endParaRPr lang="en-US" sz="1200" dirty="0"/>
          </a:p>
        </p:txBody>
      </p:sp>
      <p:sp>
        <p:nvSpPr>
          <p:cNvPr id="9" name="Record value 1"/>
          <p:cNvSpPr txBox="1"/>
          <p:nvPr/>
        </p:nvSpPr>
        <p:spPr>
          <a:xfrm>
            <a:off x="8641080" y="3355848"/>
            <a:ext cx="2788920" cy="365760"/>
          </a:xfrm>
          <a:prstGeom prst="rect">
            <a:avLst/>
          </a:prstGeom>
          <a:noFill/>
          <a:ln/>
        </p:spPr>
        <p:txBody>
          <a:bodyPr wrap="square" lIns="0" tIns="0" rIns="0" bIns="0" rtlCol="0" anchor="t"/>
          <a:lstStyle/>
          <a:p>
            <a:pPr indent="0" marL="0">
              <a:buNone/>
            </a:pPr>
            <a:r>
              <a:rPr lang="en-US" sz="1500" b="1" dirty="0">
                <a:solidFill>
                  <a:schemeClr val="tx1"/>
                </a:solidFill>
              </a:rPr>
              <a:t>Python Documentation</a:t>
            </a:r>
            <a:endParaRPr lang="en-US" sz="1500" dirty="0"/>
          </a:p>
        </p:txBody>
      </p:sp>
      <p:sp>
        <p:nvSpPr>
          <p:cNvPr id="10" name="Record label 2"/>
          <p:cNvSpPr txBox="1"/>
          <p:nvPr/>
        </p:nvSpPr>
        <p:spPr>
          <a:xfrm>
            <a:off x="8641080" y="3813048"/>
            <a:ext cx="2788920" cy="228600"/>
          </a:xfrm>
          <a:prstGeom prst="rect">
            <a:avLst/>
          </a:prstGeom>
          <a:noFill/>
          <a:ln/>
        </p:spPr>
        <p:txBody>
          <a:bodyPr wrap="square" lIns="0" tIns="0" rIns="0" bIns="0" rtlCol="0" anchor="ctr"/>
          <a:lstStyle/>
          <a:p>
            <a:pPr indent="0" marL="0">
              <a:buNone/>
            </a:pPr>
            <a:r>
              <a:rPr lang="en-US" sz="1200" b="1" dirty="0">
                <a:solidFill>
                  <a:schemeClr val="accent2"/>
                </a:solidFill>
              </a:rPr>
              <a:t>URL</a:t>
            </a:r>
            <a:endParaRPr lang="en-US" sz="1200" dirty="0"/>
          </a:p>
        </p:txBody>
      </p:sp>
      <p:sp>
        <p:nvSpPr>
          <p:cNvPr id="11" name="Record value 2"/>
          <p:cNvSpPr txBox="1"/>
          <p:nvPr/>
        </p:nvSpPr>
        <p:spPr>
          <a:xfrm>
            <a:off x="8641080" y="4059936"/>
            <a:ext cx="2788920" cy="365760"/>
          </a:xfrm>
          <a:prstGeom prst="rect">
            <a:avLst/>
          </a:prstGeom>
          <a:noFill/>
          <a:ln/>
        </p:spPr>
        <p:txBody>
          <a:bodyPr wrap="square" lIns="0" tIns="0" rIns="0" bIns="0" rtlCol="0" anchor="t"/>
          <a:lstStyle/>
          <a:p>
            <a:pPr indent="0" marL="0">
              <a:buNone/>
            </a:pPr>
            <a:r>
              <a:rPr lang="en-US" sz="1500" b="1" dirty="0">
                <a:solidFill>
                  <a:schemeClr val="tx1"/>
                </a:solidFill>
              </a:rPr>
              <a:t>https://docs.python.org/3/</a:t>
            </a:r>
            <a:endParaRPr lang="en-US" sz="1500" dirty="0"/>
          </a:p>
        </p:txBody>
      </p:sp>
      <p:sp>
        <p:nvSpPr>
          <p:cNvPr id="12" name="Record label 3"/>
          <p:cNvSpPr txBox="1"/>
          <p:nvPr/>
        </p:nvSpPr>
        <p:spPr>
          <a:xfrm>
            <a:off x="8641080" y="4517136"/>
            <a:ext cx="2788920" cy="228600"/>
          </a:xfrm>
          <a:prstGeom prst="rect">
            <a:avLst/>
          </a:prstGeom>
          <a:noFill/>
          <a:ln/>
        </p:spPr>
        <p:txBody>
          <a:bodyPr wrap="square" lIns="0" tIns="0" rIns="0" bIns="0" rtlCol="0" anchor="ctr"/>
          <a:lstStyle/>
          <a:p>
            <a:pPr indent="0" marL="0">
              <a:buNone/>
            </a:pPr>
            <a:r>
              <a:rPr lang="en-US" sz="1200" b="1" dirty="0">
                <a:solidFill>
                  <a:schemeClr val="accent2"/>
                </a:solidFill>
              </a:rPr>
              <a:t>CATEGORY</a:t>
            </a:r>
            <a:endParaRPr lang="en-US" sz="1200" dirty="0"/>
          </a:p>
        </p:txBody>
      </p:sp>
      <p:sp>
        <p:nvSpPr>
          <p:cNvPr id="13" name="Record value 3"/>
          <p:cNvSpPr txBox="1"/>
          <p:nvPr/>
        </p:nvSpPr>
        <p:spPr>
          <a:xfrm>
            <a:off x="8641080" y="4764024"/>
            <a:ext cx="2788920" cy="365760"/>
          </a:xfrm>
          <a:prstGeom prst="rect">
            <a:avLst/>
          </a:prstGeom>
          <a:noFill/>
          <a:ln/>
        </p:spPr>
        <p:txBody>
          <a:bodyPr wrap="square" lIns="0" tIns="0" rIns="0" bIns="0" rtlCol="0" anchor="t"/>
          <a:lstStyle/>
          <a:p>
            <a:pPr indent="0" marL="0">
              <a:buNone/>
            </a:pPr>
            <a:r>
              <a:rPr lang="en-US" sz="1500" b="1" dirty="0">
                <a:solidFill>
                  <a:schemeClr val="tx1"/>
                </a:solidFill>
              </a:rPr>
              <a:t>Education</a:t>
            </a:r>
            <a:endParaRPr lang="en-US" sz="1500" dirty="0"/>
          </a:p>
        </p:txBody>
      </p:sp>
      <p:sp>
        <p:nvSpPr>
          <p:cNvPr id="14" name="Record label 4"/>
          <p:cNvSpPr txBox="1"/>
          <p:nvPr/>
        </p:nvSpPr>
        <p:spPr>
          <a:xfrm>
            <a:off x="8641080" y="5221224"/>
            <a:ext cx="2788920" cy="228600"/>
          </a:xfrm>
          <a:prstGeom prst="rect">
            <a:avLst/>
          </a:prstGeom>
          <a:noFill/>
          <a:ln/>
        </p:spPr>
        <p:txBody>
          <a:bodyPr wrap="square" lIns="0" tIns="0" rIns="0" bIns="0" rtlCol="0" anchor="ctr"/>
          <a:lstStyle/>
          <a:p>
            <a:pPr indent="0" marL="0">
              <a:buNone/>
            </a:pPr>
            <a:r>
              <a:rPr lang="en-US" sz="1200" b="1" dirty="0">
                <a:solidFill>
                  <a:schemeClr val="accent2"/>
                </a:solidFill>
              </a:rPr>
              <a:t>NOTES</a:t>
            </a:r>
            <a:endParaRPr lang="en-US" sz="1200" dirty="0"/>
          </a:p>
        </p:txBody>
      </p:sp>
      <p:sp>
        <p:nvSpPr>
          <p:cNvPr id="15" name="Record value 4"/>
          <p:cNvSpPr txBox="1"/>
          <p:nvPr/>
        </p:nvSpPr>
        <p:spPr>
          <a:xfrm>
            <a:off x="8641080" y="5468112"/>
            <a:ext cx="2788920" cy="365760"/>
          </a:xfrm>
          <a:prstGeom prst="rect">
            <a:avLst/>
          </a:prstGeom>
          <a:noFill/>
          <a:ln/>
        </p:spPr>
        <p:txBody>
          <a:bodyPr wrap="square" lIns="0" tIns="0" rIns="0" bIns="0" rtlCol="0" anchor="t"/>
          <a:lstStyle/>
          <a:p>
            <a:pPr indent="0" marL="0">
              <a:buNone/>
            </a:pPr>
            <a:r>
              <a:rPr lang="en-US" sz="1500" b="1" dirty="0">
                <a:solidFill>
                  <a:schemeClr val="tx1"/>
                </a:solidFill>
              </a:rPr>
              <a:t>Official Python reference</a:t>
            </a:r>
            <a:endParaRPr lang="en-US" sz="15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6"/>
          <p:cNvSpPr/>
          <p:nvPr>
            <p:ph idx="108" type="title" hasCustomPrompt="1"/>
          </p:nvPr>
        </p:nvSpPr>
        <p:spPr>
          <a:xfrm>
            <a:off x="548640" y="1371600"/>
            <a:ext cx="11091672" cy="640080"/>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Advantages, Limitations &amp; Future Scope</a:t>
            </a:r>
            <a:endParaRPr lang="en-US" sz="3400" dirty="0"/>
          </a:p>
        </p:txBody>
      </p:sp>
      <p:sp>
        <p:nvSpPr>
          <p:cNvPr id="3" name="Advantages card"/>
          <p:cNvSpPr/>
          <p:nvPr/>
        </p:nvSpPr>
        <p:spPr>
          <a:xfrm>
            <a:off x="548640" y="2194560"/>
            <a:ext cx="3566160" cy="2926080"/>
          </a:xfrm>
          <a:prstGeom prst="roundRect">
            <a:avLst>
              <a:gd name="adj" fmla="val 375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4" name="Advantages icon circle"/>
          <p:cNvSpPr/>
          <p:nvPr/>
        </p:nvSpPr>
        <p:spPr>
          <a:xfrm>
            <a:off x="777240" y="2377440"/>
            <a:ext cx="548640" cy="548640"/>
          </a:xfrm>
          <a:prstGeom prst="ellipse">
            <a:avLst/>
          </a:prstGeom>
          <a:solidFill>
            <a:schemeClr val="accent1"/>
          </a:solidFill>
          <a:ln w="12700">
            <a:solidFill>
              <a:schemeClr val="accent1"/>
            </a:solidFill>
            <a:prstDash val="solid"/>
          </a:ln>
        </p:spPr>
      </p:sp>
      <p:pic>
        <p:nvPicPr>
          <p:cNvPr id="5" name="Advantages icon" descr="Advantages icon">    </p:cNvPr>
          <p:cNvPicPr>
            <a:picLocks noChangeAspect="1"/>
          </p:cNvPicPr>
          <p:nvPr/>
        </p:nvPicPr>
        <p:blipFill>
          <a:blip r:embed="rId1"/>
          <a:stretch>
            <a:fillRect/>
          </a:stretch>
        </p:blipFill>
        <p:spPr>
          <a:xfrm>
            <a:off x="914400" y="2514600"/>
            <a:ext cx="274320" cy="274320"/>
          </a:xfrm>
          <a:prstGeom prst="rect">
            <a:avLst/>
          </a:prstGeom>
        </p:spPr>
      </p:pic>
      <p:sp>
        <p:nvSpPr>
          <p:cNvPr id="6" name="Advantages heading"/>
          <p:cNvSpPr txBox="1"/>
          <p:nvPr/>
        </p:nvSpPr>
        <p:spPr>
          <a:xfrm>
            <a:off x="1463040" y="2377440"/>
            <a:ext cx="2468880" cy="548640"/>
          </a:xfrm>
          <a:prstGeom prst="rect">
            <a:avLst/>
          </a:prstGeom>
          <a:noFill/>
          <a:ln/>
        </p:spPr>
        <p:txBody>
          <a:bodyPr wrap="square" lIns="0" tIns="0" rIns="0" bIns="0" rtlCol="0" anchor="ctr"/>
          <a:lstStyle/>
          <a:p>
            <a:pPr indent="0" marL="0">
              <a:buNone/>
            </a:pPr>
            <a:r>
              <a:rPr lang="en-US" sz="2200" b="1" dirty="0">
                <a:solidFill>
                  <a:schemeClr val="tx2"/>
                </a:solidFill>
                <a:latin typeface="+mj-lt" pitchFamily="34" charset="0"/>
                <a:ea typeface="+mj-lt" pitchFamily="34" charset="-122"/>
                <a:cs typeface="+mj-lt" pitchFamily="34" charset="-120"/>
              </a:rPr>
              <a:t>Advantages</a:t>
            </a:r>
            <a:endParaRPr lang="en-US" sz="2200" dirty="0"/>
          </a:p>
        </p:txBody>
      </p:sp>
      <p:sp>
        <p:nvSpPr>
          <p:cNvPr id="7" name="Advantages list"/>
          <p:cNvSpPr txBox="1"/>
          <p:nvPr/>
        </p:nvSpPr>
        <p:spPr>
          <a:xfrm>
            <a:off x="777240" y="3063240"/>
            <a:ext cx="3108960" cy="1965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Easy-to-use graphical interface</a:t>
            </a:r>
            <a:endParaRPr lang="en-US" sz="1500" dirty="0"/>
          </a:p>
          <a:p>
            <a:pPr marL="342900" indent="-342900">
              <a:spcAft>
                <a:spcPts val="800"/>
              </a:spcAft>
              <a:buSzPct val="100000"/>
              <a:buChar char="•"/>
            </a:pPr>
            <a:r>
              <a:rPr lang="en-US" sz="1500" dirty="0">
                <a:solidFill>
                  <a:schemeClr val="tx1"/>
                </a:solidFill>
              </a:rPr>
              <a:t>Built-in modules and a local JSON file</a:t>
            </a:r>
            <a:endParaRPr lang="en-US" sz="1500" dirty="0"/>
          </a:p>
          <a:p>
            <a:pPr marL="342900" indent="-342900">
              <a:spcAft>
                <a:spcPts val="800"/>
              </a:spcAft>
              <a:buSzPct val="100000"/>
              <a:buChar char="•"/>
            </a:pPr>
            <a:r>
              <a:rPr lang="en-US" sz="1500" dirty="0">
                <a:solidFill>
                  <a:schemeClr val="tx1"/>
                </a:solidFill>
              </a:rPr>
              <a:t>Demonstrates Lists, Dictionaries, File Handling and Tkinter</a:t>
            </a:r>
            <a:endParaRPr lang="en-US" sz="1500" dirty="0"/>
          </a:p>
          <a:p>
            <a:pPr marL="342900" indent="-342900">
              <a:spcAft>
                <a:spcPts val="800"/>
              </a:spcAft>
              <a:buSzPct val="100000"/>
              <a:buChar char="•"/>
            </a:pPr>
            <a:r>
              <a:rPr lang="en-US" sz="1500" dirty="0">
                <a:solidFill>
                  <a:schemeClr val="tx1"/>
                </a:solidFill>
              </a:rPr>
              <a:t>Search and delete make records easy to manage</a:t>
            </a:r>
            <a:endParaRPr lang="en-US" sz="1500" dirty="0"/>
          </a:p>
        </p:txBody>
      </p:sp>
      <p:sp>
        <p:nvSpPr>
          <p:cNvPr id="8" name="Limitations card"/>
          <p:cNvSpPr/>
          <p:nvPr/>
        </p:nvSpPr>
        <p:spPr>
          <a:xfrm>
            <a:off x="4311396" y="2194560"/>
            <a:ext cx="3566160" cy="2926080"/>
          </a:xfrm>
          <a:prstGeom prst="roundRect">
            <a:avLst>
              <a:gd name="adj" fmla="val 375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9" name="Limitations icon circle"/>
          <p:cNvSpPr/>
          <p:nvPr/>
        </p:nvSpPr>
        <p:spPr>
          <a:xfrm>
            <a:off x="4539996" y="2377440"/>
            <a:ext cx="548640" cy="548640"/>
          </a:xfrm>
          <a:prstGeom prst="ellipse">
            <a:avLst/>
          </a:prstGeom>
          <a:solidFill>
            <a:schemeClr val="accent6"/>
          </a:solidFill>
          <a:ln w="12700">
            <a:solidFill>
              <a:schemeClr val="accent6"/>
            </a:solidFill>
            <a:prstDash val="solid"/>
          </a:ln>
        </p:spPr>
      </p:sp>
      <p:pic>
        <p:nvPicPr>
          <p:cNvPr id="10" name="Limitations icon" descr="Limitations icon">    </p:cNvPr>
          <p:cNvPicPr>
            <a:picLocks noChangeAspect="1"/>
          </p:cNvPicPr>
          <p:nvPr/>
        </p:nvPicPr>
        <p:blipFill>
          <a:blip r:embed="rId2"/>
          <a:stretch>
            <a:fillRect/>
          </a:stretch>
        </p:blipFill>
        <p:spPr>
          <a:xfrm>
            <a:off x="4677156" y="2514600"/>
            <a:ext cx="274320" cy="274320"/>
          </a:xfrm>
          <a:prstGeom prst="rect">
            <a:avLst/>
          </a:prstGeom>
        </p:spPr>
      </p:pic>
      <p:sp>
        <p:nvSpPr>
          <p:cNvPr id="11" name="Limitations heading"/>
          <p:cNvSpPr txBox="1"/>
          <p:nvPr/>
        </p:nvSpPr>
        <p:spPr>
          <a:xfrm>
            <a:off x="5225796" y="2377440"/>
            <a:ext cx="2468880" cy="548640"/>
          </a:xfrm>
          <a:prstGeom prst="rect">
            <a:avLst/>
          </a:prstGeom>
          <a:noFill/>
          <a:ln/>
        </p:spPr>
        <p:txBody>
          <a:bodyPr wrap="square" lIns="0" tIns="0" rIns="0" bIns="0" rtlCol="0" anchor="ctr"/>
          <a:lstStyle/>
          <a:p>
            <a:pPr indent="0" marL="0">
              <a:buNone/>
            </a:pPr>
            <a:r>
              <a:rPr lang="en-US" sz="2200" b="1" dirty="0">
                <a:solidFill>
                  <a:schemeClr val="tx2"/>
                </a:solidFill>
                <a:latin typeface="+mj-lt" pitchFamily="34" charset="0"/>
                <a:ea typeface="+mj-lt" pitchFamily="34" charset="-122"/>
                <a:cs typeface="+mj-lt" pitchFamily="34" charset="-120"/>
              </a:rPr>
              <a:t>Limitations</a:t>
            </a:r>
            <a:endParaRPr lang="en-US" sz="2200" dirty="0"/>
          </a:p>
        </p:txBody>
      </p:sp>
      <p:sp>
        <p:nvSpPr>
          <p:cNvPr id="12" name="Limitations list"/>
          <p:cNvSpPr txBox="1"/>
          <p:nvPr/>
        </p:nvSpPr>
        <p:spPr>
          <a:xfrm>
            <a:off x="4539996" y="3063240"/>
            <a:ext cx="3108960" cy="1965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Data stays on one computer</a:t>
            </a:r>
            <a:endParaRPr lang="en-US" sz="1500" dirty="0"/>
          </a:p>
          <a:p>
            <a:pPr marL="342900" indent="-342900">
              <a:spcAft>
                <a:spcPts val="800"/>
              </a:spcAft>
              <a:buSzPct val="100000"/>
              <a:buChar char="•"/>
            </a:pPr>
            <a:r>
              <a:rPr lang="en-US" sz="1500" dirty="0">
                <a:solidFill>
                  <a:schemeClr val="tx1"/>
                </a:solidFill>
              </a:rPr>
              <a:t>Does not verify website availability</a:t>
            </a:r>
            <a:endParaRPr lang="en-US" sz="1500" dirty="0"/>
          </a:p>
          <a:p>
            <a:pPr marL="342900" indent="-342900">
              <a:spcAft>
                <a:spcPts val="800"/>
              </a:spcAft>
              <a:buSzPct val="100000"/>
              <a:buChar char="•"/>
            </a:pPr>
            <a:r>
              <a:rPr lang="en-US" sz="1500" dirty="0">
                <a:solidFill>
                  <a:schemeClr val="tx1"/>
                </a:solidFill>
              </a:rPr>
              <a:t>JSON file is plain text, not encrypted</a:t>
            </a:r>
            <a:endParaRPr lang="en-US" sz="1500" dirty="0"/>
          </a:p>
          <a:p>
            <a:pPr marL="342900" indent="-342900">
              <a:spcAft>
                <a:spcPts val="800"/>
              </a:spcAft>
              <a:buSzPct val="100000"/>
              <a:buChar char="•"/>
            </a:pPr>
            <a:r>
              <a:rPr lang="en-US" sz="1500" dirty="0">
                <a:solidFill>
                  <a:schemeClr val="tx1"/>
                </a:solidFill>
              </a:rPr>
              <a:t>No multi-user access or cloud sync</a:t>
            </a:r>
            <a:endParaRPr lang="en-US" sz="1500" dirty="0"/>
          </a:p>
        </p:txBody>
      </p:sp>
      <p:sp>
        <p:nvSpPr>
          <p:cNvPr id="13" name="Future Scope card"/>
          <p:cNvSpPr/>
          <p:nvPr/>
        </p:nvSpPr>
        <p:spPr>
          <a:xfrm>
            <a:off x="8074152" y="2194560"/>
            <a:ext cx="3566160" cy="2926080"/>
          </a:xfrm>
          <a:prstGeom prst="roundRect">
            <a:avLst>
              <a:gd name="adj" fmla="val 3750"/>
            </a:avLst>
          </a:prstGeom>
          <a:solidFill>
            <a:schemeClr val="bg1"/>
          </a:solidFill>
          <a:ln w="12700">
            <a:solidFill>
              <a:schemeClr val="bg1"/>
            </a:solidFill>
            <a:prstDash val="solid"/>
          </a:ln>
          <a:effectLst>
            <a:outerShdw sx="100000" sy="100000" kx="0" ky="0" algn="bl" rotWithShape="0" blurRad="101600" dist="25400" dir="5400000">
              <a:srgbClr val="1C3E7B">
                <a:alpha val="14000"/>
              </a:srgbClr>
            </a:outerShdw>
          </a:effectLst>
        </p:spPr>
      </p:sp>
      <p:sp>
        <p:nvSpPr>
          <p:cNvPr id="14" name="Future Scope icon circle"/>
          <p:cNvSpPr/>
          <p:nvPr/>
        </p:nvSpPr>
        <p:spPr>
          <a:xfrm>
            <a:off x="8302752" y="2377440"/>
            <a:ext cx="548640" cy="548640"/>
          </a:xfrm>
          <a:prstGeom prst="ellipse">
            <a:avLst/>
          </a:prstGeom>
          <a:solidFill>
            <a:schemeClr val="accent2"/>
          </a:solidFill>
          <a:ln w="12700">
            <a:solidFill>
              <a:schemeClr val="accent2"/>
            </a:solidFill>
            <a:prstDash val="solid"/>
          </a:ln>
        </p:spPr>
      </p:sp>
      <p:pic>
        <p:nvPicPr>
          <p:cNvPr id="15" name="Future Scope icon" descr="Future Scope icon">    </p:cNvPr>
          <p:cNvPicPr>
            <a:picLocks noChangeAspect="1"/>
          </p:cNvPicPr>
          <p:nvPr/>
        </p:nvPicPr>
        <p:blipFill>
          <a:blip r:embed="rId3"/>
          <a:stretch>
            <a:fillRect/>
          </a:stretch>
        </p:blipFill>
        <p:spPr>
          <a:xfrm>
            <a:off x="8439912" y="2514600"/>
            <a:ext cx="274320" cy="274320"/>
          </a:xfrm>
          <a:prstGeom prst="rect">
            <a:avLst/>
          </a:prstGeom>
        </p:spPr>
      </p:pic>
      <p:sp>
        <p:nvSpPr>
          <p:cNvPr id="16" name="Future Scope heading"/>
          <p:cNvSpPr txBox="1"/>
          <p:nvPr/>
        </p:nvSpPr>
        <p:spPr>
          <a:xfrm>
            <a:off x="8988552" y="2377440"/>
            <a:ext cx="2468880" cy="548640"/>
          </a:xfrm>
          <a:prstGeom prst="rect">
            <a:avLst/>
          </a:prstGeom>
          <a:noFill/>
          <a:ln/>
        </p:spPr>
        <p:txBody>
          <a:bodyPr wrap="square" lIns="0" tIns="0" rIns="0" bIns="0" rtlCol="0" anchor="ctr"/>
          <a:lstStyle/>
          <a:p>
            <a:pPr indent="0" marL="0">
              <a:buNone/>
            </a:pPr>
            <a:r>
              <a:rPr lang="en-US" sz="2200" b="1" dirty="0">
                <a:solidFill>
                  <a:schemeClr val="tx2"/>
                </a:solidFill>
                <a:latin typeface="+mj-lt" pitchFamily="34" charset="0"/>
                <a:ea typeface="+mj-lt" pitchFamily="34" charset="-122"/>
                <a:cs typeface="+mj-lt" pitchFamily="34" charset="-120"/>
              </a:rPr>
              <a:t>Future Scope</a:t>
            </a:r>
            <a:endParaRPr lang="en-US" sz="2200" dirty="0"/>
          </a:p>
        </p:txBody>
      </p:sp>
      <p:sp>
        <p:nvSpPr>
          <p:cNvPr id="17" name="Future Scope list"/>
          <p:cNvSpPr txBox="1"/>
          <p:nvPr/>
        </p:nvSpPr>
        <p:spPr>
          <a:xfrm>
            <a:off x="8302752" y="3063240"/>
            <a:ext cx="3108960" cy="1965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Edit records and detect duplicate URLs</a:t>
            </a:r>
            <a:endParaRPr lang="en-US" sz="1500" dirty="0"/>
          </a:p>
          <a:p>
            <a:pPr marL="342900" indent="-342900">
              <a:spcAft>
                <a:spcPts val="800"/>
              </a:spcAft>
              <a:buSzPct val="100000"/>
              <a:buChar char="•"/>
            </a:pPr>
            <a:r>
              <a:rPr lang="en-US" sz="1500" dirty="0">
                <a:solidFill>
                  <a:schemeClr val="tx1"/>
                </a:solidFill>
              </a:rPr>
              <a:t>Validate URLs and check availability</a:t>
            </a:r>
            <a:endParaRPr lang="en-US" sz="1500" dirty="0"/>
          </a:p>
          <a:p>
            <a:pPr marL="342900" indent="-342900">
              <a:spcAft>
                <a:spcPts val="800"/>
              </a:spcAft>
              <a:buSzPct val="100000"/>
              <a:buChar char="•"/>
            </a:pPr>
            <a:r>
              <a:rPr lang="en-US" sz="1500" dirty="0">
                <a:solidFill>
                  <a:schemeClr val="tx1"/>
                </a:solidFill>
              </a:rPr>
              <a:t>Sorting, favorites, tags and date added</a:t>
            </a:r>
            <a:endParaRPr lang="en-US" sz="1500" dirty="0"/>
          </a:p>
          <a:p>
            <a:pPr marL="342900" indent="-342900">
              <a:spcAft>
                <a:spcPts val="800"/>
              </a:spcAft>
              <a:buSzPct val="100000"/>
              <a:buChar char="•"/>
            </a:pPr>
            <a:r>
              <a:rPr lang="en-US" sz="1500" dirty="0">
                <a:solidFill>
                  <a:schemeClr val="tx1"/>
                </a:solidFill>
              </a:rPr>
              <a:t>Export to CSV/Excel; SQLite with encryption</a:t>
            </a:r>
            <a:endParaRPr lang="en-US" sz="1500" dirty="0"/>
          </a:p>
        </p:txBody>
      </p:sp>
      <p:sp>
        <p:nvSpPr>
          <p:cNvPr id="18" name="Conclusion banner"/>
          <p:cNvSpPr/>
          <p:nvPr/>
        </p:nvSpPr>
        <p:spPr>
          <a:xfrm>
            <a:off x="548640" y="5349240"/>
            <a:ext cx="11091672" cy="868680"/>
          </a:xfrm>
          <a:prstGeom prst="roundRect">
            <a:avLst>
              <a:gd name="adj" fmla="val 12632"/>
            </a:avLst>
          </a:prstGeom>
          <a:solidFill>
            <a:schemeClr val="accent1"/>
          </a:solidFill>
          <a:ln w="12700">
            <a:solidFill>
              <a:schemeClr val="accent1"/>
            </a:solidFill>
            <a:prstDash val="solid"/>
          </a:ln>
        </p:spPr>
      </p:sp>
      <p:sp>
        <p:nvSpPr>
          <p:cNvPr id="19" name="Conclusion text"/>
          <p:cNvSpPr txBox="1"/>
          <p:nvPr/>
        </p:nvSpPr>
        <p:spPr>
          <a:xfrm>
            <a:off x="822960" y="5394960"/>
            <a:ext cx="10515600" cy="777240"/>
          </a:xfrm>
          <a:prstGeom prst="rect">
            <a:avLst/>
          </a:prstGeom>
          <a:noFill/>
          <a:ln/>
        </p:spPr>
        <p:txBody>
          <a:bodyPr wrap="square" lIns="0" tIns="0" rIns="0" bIns="0" rtlCol="0" anchor="ctr"/>
          <a:lstStyle/>
          <a:p>
            <a:pPr indent="0" marL="0">
              <a:buNone/>
            </a:pPr>
            <a:r>
              <a:rPr lang="en-US" sz="1600" b="1" dirty="0">
                <a:solidFill>
                  <a:schemeClr val="accent3"/>
                </a:solidFill>
              </a:rPr>
              <a:t>Conclusion: </a:t>
            </a:r>
            <a:pPr indent="0" marL="0">
              <a:buNone/>
            </a:pPr>
            <a:r>
              <a:rPr lang="en-US" sz="1600" dirty="0">
                <a:solidFill>
                  <a:schemeClr val="bg1"/>
                </a:solidFill>
              </a:rPr>
              <a:t>Lists, Dictionaries, File Handling and Tkinter combine into a practical desktop app, and a solid base for editing, URL validation and database storage.</a:t>
            </a:r>
            <a:endParaRPr lang="en-US" sz="16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ADIT CVM Navy">
  <a:themeElements>
    <a:clrScheme name="ADIT CVM Navy">
      <a:dk1>
        <a:srgbClr val="1B2433"/>
      </a:dk1>
      <a:lt1>
        <a:srgbClr val="FFFFFF"/>
      </a:lt1>
      <a:dk2>
        <a:srgbClr val="1C3E7B"/>
      </a:dk2>
      <a:lt2>
        <a:srgbClr val="EAF0F8"/>
      </a:lt2>
      <a:accent1>
        <a:srgbClr val="1C3E7B"/>
      </a:accent1>
      <a:accent2>
        <a:srgbClr val="2386C8"/>
      </a:accent2>
      <a:accent3>
        <a:srgbClr val="D6A928"/>
      </a:accent3>
      <a:accent4>
        <a:srgbClr val="5B7DB1"/>
      </a:accent4>
      <a:accent5>
        <a:srgbClr val="8FB8DE"/>
      </a:accent5>
      <a:accent6>
        <a:srgbClr val="B8861B"/>
      </a:accent6>
      <a:hlink>
        <a:srgbClr val="2386C8"/>
      </a:hlink>
      <a:folHlink>
        <a:srgbClr val="5B7DB1"/>
      </a:folHlink>
    </a:clrScheme>
    <a:fontScheme name="ADIT CVM Navy">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Data Tracker</dc:title>
  <dc:subject>PptxGenJS Presentation</dc:subject>
  <dc:creator>Modh Bhavi</dc:creator>
  <cp:lastModifiedBy>Modh Bhavi</cp:lastModifiedBy>
  <cp:revision>1</cp:revision>
  <dcterms:created xsi:type="dcterms:W3CDTF">2026-10-26T17:38:01Z</dcterms:created>
  <dcterms:modified xsi:type="dcterms:W3CDTF">2026-10-26T17:38:01Z</dcterms:modified>
</cp:coreProperties>
</file>